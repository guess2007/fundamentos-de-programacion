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72" r:id="rId6"/>
    <p:sldId id="263" r:id="rId7"/>
    <p:sldId id="265" r:id="rId8"/>
    <p:sldId id="268" r:id="rId9"/>
    <p:sldId id="271" r:id="rId10"/>
    <p:sldId id="266" r:id="rId11"/>
    <p:sldId id="270" r:id="rId12"/>
    <p:sldId id="267" r:id="rId13"/>
    <p:sldId id="269" r:id="rId14"/>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77" autoAdjust="0"/>
    <p:restoredTop sz="94660"/>
  </p:normalViewPr>
  <p:slideViewPr>
    <p:cSldViewPr snapToGrid="0">
      <p:cViewPr varScale="1">
        <p:scale>
          <a:sx n="64" d="100"/>
          <a:sy n="64" d="100"/>
        </p:scale>
        <p:origin x="80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6/24/2026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069206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6/24/2026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700462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6/24/2026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769240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6/24/2026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658290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6/24/2026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292790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6/24/2026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634330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6/24/2026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8635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6/24/2026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467277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6/24/2026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166657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6/24/2026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889236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6/24/2026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25500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6/24/2026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‹Nº›</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3802804"/>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09C6596-66FB-64C1-F90F-07D9B26D5F02}"/>
              </a:ext>
            </a:extLst>
          </p:cNvPr>
          <p:cNvSpPr>
            <a:spLocks noGrp="1"/>
          </p:cNvSpPr>
          <p:nvPr>
            <p:ph type="ctrTitle"/>
          </p:nvPr>
        </p:nvSpPr>
        <p:spPr>
          <a:xfrm>
            <a:off x="5604552" y="871758"/>
            <a:ext cx="5825448" cy="3871143"/>
          </a:xfrm>
        </p:spPr>
        <p:txBody>
          <a:bodyPr>
            <a:normAutofit/>
          </a:bodyPr>
          <a:lstStyle/>
          <a:p>
            <a:r>
              <a:rPr lang="es-PE" dirty="0"/>
              <a:t>Caso de la empresa Camposol</a:t>
            </a:r>
          </a:p>
        </p:txBody>
      </p:sp>
      <p:sp>
        <p:nvSpPr>
          <p:cNvPr id="3" name="Subtítulo 2">
            <a:extLst>
              <a:ext uri="{FF2B5EF4-FFF2-40B4-BE49-F238E27FC236}">
                <a16:creationId xmlns:a16="http://schemas.microsoft.com/office/drawing/2014/main" id="{A3E0D42D-A315-C551-CEC9-4590E97F5B7C}"/>
              </a:ext>
            </a:extLst>
          </p:cNvPr>
          <p:cNvSpPr>
            <a:spLocks noGrp="1"/>
          </p:cNvSpPr>
          <p:nvPr>
            <p:ph type="subTitle" idx="1"/>
          </p:nvPr>
        </p:nvSpPr>
        <p:spPr>
          <a:xfrm>
            <a:off x="5619964" y="4785543"/>
            <a:ext cx="5322013" cy="1005657"/>
          </a:xfrm>
        </p:spPr>
        <p:txBody>
          <a:bodyPr>
            <a:normAutofit/>
          </a:bodyPr>
          <a:lstStyle/>
          <a:p>
            <a:pPr>
              <a:lnSpc>
                <a:spcPct val="100000"/>
              </a:lnSpc>
            </a:pPr>
            <a:r>
              <a:rPr lang="es-PE" sz="1700"/>
              <a:t>Por Enzo Cárdenas, Franks Álvarez, Brian Melendez y Adriano </a:t>
            </a:r>
            <a:r>
              <a:rPr lang="es-PE" sz="1700" err="1"/>
              <a:t>Rodriguez</a:t>
            </a:r>
            <a:endParaRPr lang="es-PE" sz="1700"/>
          </a:p>
          <a:p>
            <a:pPr>
              <a:lnSpc>
                <a:spcPct val="100000"/>
              </a:lnSpc>
            </a:pPr>
            <a:r>
              <a:rPr lang="es-PE" sz="1700"/>
              <a:t>Profesor Elvis Wilson </a:t>
            </a:r>
            <a:r>
              <a:rPr lang="es-PE" sz="1700" err="1"/>
              <a:t>Alcantara</a:t>
            </a:r>
            <a:r>
              <a:rPr lang="es-PE" sz="1700"/>
              <a:t> Pinedo</a:t>
            </a:r>
          </a:p>
        </p:txBody>
      </p:sp>
      <p:pic>
        <p:nvPicPr>
          <p:cNvPr id="5" name="Picture 4">
            <a:extLst>
              <a:ext uri="{FF2B5EF4-FFF2-40B4-BE49-F238E27FC236}">
                <a16:creationId xmlns:a16="http://schemas.microsoft.com/office/drawing/2014/main" id="{6FE9F074-FB69-ECD6-96AA-102BF94B6F01}"/>
              </a:ext>
            </a:extLst>
          </p:cNvPr>
          <p:cNvPicPr>
            <a:picLocks noChangeAspect="1"/>
          </p:cNvPicPr>
          <p:nvPr/>
        </p:nvPicPr>
        <p:blipFill>
          <a:blip r:embed="rId2"/>
          <a:srcRect l="29315" r="20908" b="1"/>
          <a:stretch>
            <a:fillRect/>
          </a:stretch>
        </p:blipFill>
        <p:spPr>
          <a:xfrm>
            <a:off x="1" y="10"/>
            <a:ext cx="4876799" cy="6857989"/>
          </a:xfrm>
          <a:prstGeom prst="rect">
            <a:avLst/>
          </a:prstGeom>
        </p:spPr>
      </p:pic>
      <p:cxnSp>
        <p:nvCxnSpPr>
          <p:cNvPr id="12" name="Straight Connector 1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6C3619CB-6F78-C1FE-EF4F-398A59A36495}"/>
              </a:ext>
            </a:extLst>
          </p:cNvPr>
          <p:cNvSpPr txBox="1"/>
          <p:nvPr/>
        </p:nvSpPr>
        <p:spPr>
          <a:xfrm>
            <a:off x="726596" y="5849249"/>
            <a:ext cx="2104845" cy="477054"/>
          </a:xfrm>
          <a:prstGeom prst="rect">
            <a:avLst/>
          </a:prstGeom>
          <a:noFill/>
        </p:spPr>
        <p:txBody>
          <a:bodyPr wrap="square" rtlCol="0">
            <a:spAutoFit/>
          </a:bodyPr>
          <a:lstStyle/>
          <a:p>
            <a:pPr>
              <a:spcAft>
                <a:spcPts val="600"/>
              </a:spcAft>
            </a:pPr>
            <a:r>
              <a:rPr lang="es-PE" sz="1000" dirty="0"/>
              <a:t>2026 – 1</a:t>
            </a:r>
            <a:endParaRPr lang="es-PE" sz="1000"/>
          </a:p>
          <a:p>
            <a:pPr>
              <a:spcAft>
                <a:spcPts val="600"/>
              </a:spcAft>
            </a:pPr>
            <a:r>
              <a:rPr lang="es-PE" sz="1000" dirty="0"/>
              <a:t>Base de datos - 226413.8048</a:t>
            </a:r>
            <a:endParaRPr lang="es-PE" sz="1000"/>
          </a:p>
        </p:txBody>
      </p:sp>
    </p:spTree>
    <p:extLst>
      <p:ext uri="{BB962C8B-B14F-4D97-AF65-F5344CB8AC3E}">
        <p14:creationId xmlns:p14="http://schemas.microsoft.com/office/powerpoint/2010/main" val="71421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396603B-5359-4D07-DEA8-4E6254C9549D}"/>
              </a:ext>
            </a:extLst>
          </p:cNvPr>
          <p:cNvSpPr>
            <a:spLocks noGrp="1"/>
          </p:cNvSpPr>
          <p:nvPr>
            <p:ph type="title"/>
          </p:nvPr>
        </p:nvSpPr>
        <p:spPr>
          <a:xfrm>
            <a:off x="704088" y="914400"/>
            <a:ext cx="5195889" cy="1316736"/>
          </a:xfrm>
        </p:spPr>
        <p:txBody>
          <a:bodyPr>
            <a:normAutofit/>
          </a:bodyPr>
          <a:lstStyle/>
          <a:p>
            <a:r>
              <a:rPr lang="es-PE" dirty="0"/>
              <a:t>Problemática</a:t>
            </a:r>
          </a:p>
        </p:txBody>
      </p:sp>
      <p:cxnSp>
        <p:nvCxnSpPr>
          <p:cNvPr id="11" name="Straight Connector 10">
            <a:extLst>
              <a:ext uri="{FF2B5EF4-FFF2-40B4-BE49-F238E27FC236}">
                <a16:creationId xmlns:a16="http://schemas.microsoft.com/office/drawing/2014/main" id="{F2B951FD-94F7-E138-3EC2-A66A551D91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72204EC4-4908-7323-2F3F-04AF02BC8D3F}"/>
              </a:ext>
            </a:extLst>
          </p:cNvPr>
          <p:cNvSpPr>
            <a:spLocks noGrp="1"/>
          </p:cNvSpPr>
          <p:nvPr>
            <p:ph idx="1"/>
          </p:nvPr>
        </p:nvSpPr>
        <p:spPr>
          <a:xfrm>
            <a:off x="704088" y="2231136"/>
            <a:ext cx="5195889" cy="3931920"/>
          </a:xfrm>
        </p:spPr>
        <p:txBody>
          <a:bodyPr>
            <a:normAutofit/>
          </a:bodyPr>
          <a:lstStyle/>
          <a:p>
            <a:r>
              <a:rPr lang="es-PE" dirty="0"/>
              <a:t>Camposol es una empresa de exportaciones de productos naturales tales como las verduras y las frutas, es una exportadora internacional la cual cuenta con tres certificados destacables de salubridad. Pese a ello, es una empresa la cual carece de comunicación entre sus negocios, y no solo ello, sino también carece de buenos métodos para poder conservar sus registros en áreas tales como monitoreo de exportaciones, lotes repartidos, entre otros.</a:t>
            </a:r>
          </a:p>
          <a:p>
            <a:endParaRPr lang="es-PE" dirty="0"/>
          </a:p>
        </p:txBody>
      </p:sp>
      <p:pic>
        <p:nvPicPr>
          <p:cNvPr id="5" name="Picture 4" descr="Vista superior de diferentes frutas y verduras">
            <a:extLst>
              <a:ext uri="{FF2B5EF4-FFF2-40B4-BE49-F238E27FC236}">
                <a16:creationId xmlns:a16="http://schemas.microsoft.com/office/drawing/2014/main" id="{A1BE9591-63B0-8966-CAC3-B14D5A0F0BF1}"/>
              </a:ext>
            </a:extLst>
          </p:cNvPr>
          <p:cNvPicPr>
            <a:picLocks noChangeAspect="1"/>
          </p:cNvPicPr>
          <p:nvPr/>
        </p:nvPicPr>
        <p:blipFill>
          <a:blip r:embed="rId3"/>
          <a:srcRect l="20792" r="25350"/>
          <a:stretch>
            <a:fillRect/>
          </a:stretch>
        </p:blipFill>
        <p:spPr>
          <a:xfrm>
            <a:off x="6420752" y="-1"/>
            <a:ext cx="5771248" cy="6857999"/>
          </a:xfrm>
          <a:prstGeom prst="rect">
            <a:avLst/>
          </a:prstGeom>
        </p:spPr>
      </p:pic>
    </p:spTree>
    <p:extLst>
      <p:ext uri="{BB962C8B-B14F-4D97-AF65-F5344CB8AC3E}">
        <p14:creationId xmlns:p14="http://schemas.microsoft.com/office/powerpoint/2010/main" val="635421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7811BB7-FD38-AFDF-9D5C-2FFB802E262B}"/>
              </a:ext>
            </a:extLst>
          </p:cNvPr>
          <p:cNvSpPr>
            <a:spLocks noGrp="1"/>
          </p:cNvSpPr>
          <p:nvPr>
            <p:ph type="title"/>
          </p:nvPr>
        </p:nvSpPr>
        <p:spPr>
          <a:xfrm>
            <a:off x="6284749" y="909638"/>
            <a:ext cx="5201121" cy="1318062"/>
          </a:xfrm>
        </p:spPr>
        <p:txBody>
          <a:bodyPr>
            <a:normAutofit/>
          </a:bodyPr>
          <a:lstStyle/>
          <a:p>
            <a:r>
              <a:rPr lang="es-PE" dirty="0"/>
              <a:t>Análisis del problema</a:t>
            </a:r>
          </a:p>
        </p:txBody>
      </p:sp>
      <p:pic>
        <p:nvPicPr>
          <p:cNvPr id="5" name="Picture 4" descr="Escritorio con elementos de productividad">
            <a:extLst>
              <a:ext uri="{FF2B5EF4-FFF2-40B4-BE49-F238E27FC236}">
                <a16:creationId xmlns:a16="http://schemas.microsoft.com/office/drawing/2014/main" id="{97CE7DD2-5E2C-AAC0-EEE4-7F93BE9866DE}"/>
              </a:ext>
            </a:extLst>
          </p:cNvPr>
          <p:cNvPicPr>
            <a:picLocks noChangeAspect="1"/>
          </p:cNvPicPr>
          <p:nvPr/>
        </p:nvPicPr>
        <p:blipFill>
          <a:blip r:embed="rId2"/>
          <a:srcRect l="29949" r="14700" b="-1"/>
          <a:stretch>
            <a:fillRect/>
          </a:stretch>
        </p:blipFill>
        <p:spPr>
          <a:xfrm>
            <a:off x="20" y="10"/>
            <a:ext cx="5686740" cy="6857990"/>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7025EB3E-E010-018C-3F2A-AE364A042C50}"/>
              </a:ext>
            </a:extLst>
          </p:cNvPr>
          <p:cNvSpPr>
            <a:spLocks noGrp="1"/>
          </p:cNvSpPr>
          <p:nvPr>
            <p:ph idx="1"/>
          </p:nvPr>
        </p:nvSpPr>
        <p:spPr>
          <a:xfrm>
            <a:off x="6290838" y="2236843"/>
            <a:ext cx="5201121" cy="3931920"/>
          </a:xfrm>
        </p:spPr>
        <p:txBody>
          <a:bodyPr>
            <a:normAutofit/>
          </a:bodyPr>
          <a:lstStyle/>
          <a:p>
            <a:r>
              <a:rPr lang="es-PE" dirty="0"/>
              <a:t>Para poder comprender mejor la situación, debemos de analizar un poco sus registros, ver como una empresa internacional como lo es Camposol maneja sus datos de un día en distintas áreas, es por ello que hemos decidido solicitar registros de Excel para poder evaluar la situación real y así poder idear una solución eficiente con nuestros conocimientos en SQL</a:t>
            </a:r>
          </a:p>
        </p:txBody>
      </p:sp>
    </p:spTree>
    <p:extLst>
      <p:ext uri="{BB962C8B-B14F-4D97-AF65-F5344CB8AC3E}">
        <p14:creationId xmlns:p14="http://schemas.microsoft.com/office/powerpoint/2010/main" val="1325100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5739C26-FED4-B0A6-A084-4B818D1EFD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9427" y="1012371"/>
            <a:ext cx="5630061" cy="2257740"/>
          </a:xfrm>
          <a:prstGeom prst="rect">
            <a:avLst/>
          </a:prstGeom>
        </p:spPr>
      </p:pic>
      <p:pic>
        <p:nvPicPr>
          <p:cNvPr id="3" name="Imagen 2">
            <a:extLst>
              <a:ext uri="{FF2B5EF4-FFF2-40B4-BE49-F238E27FC236}">
                <a16:creationId xmlns:a16="http://schemas.microsoft.com/office/drawing/2014/main" id="{4D56893F-C18D-4F9D-FE44-76ACAB9F42D6}"/>
              </a:ext>
            </a:extLst>
          </p:cNvPr>
          <p:cNvPicPr>
            <a:picLocks noChangeAspect="1"/>
          </p:cNvPicPr>
          <p:nvPr/>
        </p:nvPicPr>
        <p:blipFill>
          <a:blip r:embed="rId3"/>
          <a:stretch>
            <a:fillRect/>
          </a:stretch>
        </p:blipFill>
        <p:spPr>
          <a:xfrm>
            <a:off x="284939" y="3587890"/>
            <a:ext cx="5811061" cy="2372056"/>
          </a:xfrm>
          <a:prstGeom prst="rect">
            <a:avLst/>
          </a:prstGeom>
        </p:spPr>
      </p:pic>
      <p:sp>
        <p:nvSpPr>
          <p:cNvPr id="4" name="Marcador de texto 3">
            <a:extLst>
              <a:ext uri="{FF2B5EF4-FFF2-40B4-BE49-F238E27FC236}">
                <a16:creationId xmlns:a16="http://schemas.microsoft.com/office/drawing/2014/main" id="{675A9C65-1E89-7F44-43C5-209D80097316}"/>
              </a:ext>
            </a:extLst>
          </p:cNvPr>
          <p:cNvSpPr txBox="1">
            <a:spLocks/>
          </p:cNvSpPr>
          <p:nvPr/>
        </p:nvSpPr>
        <p:spPr>
          <a:xfrm>
            <a:off x="284939" y="1012371"/>
            <a:ext cx="4766032" cy="2372056"/>
          </a:xfrm>
          <a:prstGeom prst="rect">
            <a:avLst/>
          </a:prstGeom>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sz="1600" dirty="0"/>
              <a:t>Como podemos observar en la presente tabla, Camposol mantiene en una sola tabla datos muy resumidos, muy comprimidos, que llegan a carecer de conexión con otros datos presentes en las tablas, esto hace que se omitan muchos detalles importantes que podrían ayudar a una mejor retroalimentación y mejora en la empresa.</a:t>
            </a:r>
          </a:p>
        </p:txBody>
      </p:sp>
      <p:sp>
        <p:nvSpPr>
          <p:cNvPr id="5" name="Marcador de texto 3">
            <a:extLst>
              <a:ext uri="{FF2B5EF4-FFF2-40B4-BE49-F238E27FC236}">
                <a16:creationId xmlns:a16="http://schemas.microsoft.com/office/drawing/2014/main" id="{28AAB191-7C7D-E1EA-8B85-74B6BAACB5C8}"/>
              </a:ext>
            </a:extLst>
          </p:cNvPr>
          <p:cNvSpPr txBox="1">
            <a:spLocks/>
          </p:cNvSpPr>
          <p:nvPr/>
        </p:nvSpPr>
        <p:spPr>
          <a:xfrm>
            <a:off x="6315625" y="3791857"/>
            <a:ext cx="4766032" cy="2372056"/>
          </a:xfrm>
          <a:prstGeom prst="rect">
            <a:avLst/>
          </a:prstGeom>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PE" sz="1600" dirty="0"/>
              <a:t>Y mientras una tabla hace referencia a datos generalizados, esta es una de las pocas que se encarga de extraer los datos referentes a la opinión de los clientes, y aun así, deja mucho que desear para una empresa internacional.</a:t>
            </a:r>
          </a:p>
        </p:txBody>
      </p:sp>
      <p:sp>
        <p:nvSpPr>
          <p:cNvPr id="6" name="Título 1">
            <a:extLst>
              <a:ext uri="{FF2B5EF4-FFF2-40B4-BE49-F238E27FC236}">
                <a16:creationId xmlns:a16="http://schemas.microsoft.com/office/drawing/2014/main" id="{32142210-36A2-B637-C144-1B4E42E4C205}"/>
              </a:ext>
            </a:extLst>
          </p:cNvPr>
          <p:cNvSpPr txBox="1">
            <a:spLocks/>
          </p:cNvSpPr>
          <p:nvPr/>
        </p:nvSpPr>
        <p:spPr>
          <a:xfrm>
            <a:off x="500888" y="0"/>
            <a:ext cx="7365855" cy="694087"/>
          </a:xfrm>
          <a:prstGeom prst="rect">
            <a:avLst/>
          </a:prstGeom>
        </p:spPr>
        <p:txBody>
          <a:bodyPr>
            <a:normAutofit lnSpcReduction="1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s-PE"/>
              <a:t>Tablas de Excel analizadas</a:t>
            </a:r>
            <a:endParaRPr lang="es-PE" dirty="0"/>
          </a:p>
        </p:txBody>
      </p:sp>
    </p:spTree>
    <p:extLst>
      <p:ext uri="{BB962C8B-B14F-4D97-AF65-F5344CB8AC3E}">
        <p14:creationId xmlns:p14="http://schemas.microsoft.com/office/powerpoint/2010/main" val="290881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30C831BD-6460-EDEB-BE5E-1732359984F6}"/>
              </a:ext>
            </a:extLst>
          </p:cNvPr>
          <p:cNvSpPr txBox="1"/>
          <p:nvPr/>
        </p:nvSpPr>
        <p:spPr>
          <a:xfrm>
            <a:off x="700088" y="2235251"/>
            <a:ext cx="5958216" cy="3713109"/>
          </a:xfrm>
          <a:prstGeom prst="rect">
            <a:avLst/>
          </a:prstGeom>
        </p:spPr>
        <p:txBody>
          <a:bodyPr vert="horz" lIns="91440" tIns="45720" rIns="91440" bIns="45720" rtlCol="0">
            <a:normAutofit/>
          </a:bodyPr>
          <a:lstStyle/>
          <a:p>
            <a:pPr>
              <a:lnSpc>
                <a:spcPct val="110000"/>
              </a:lnSpc>
              <a:spcAft>
                <a:spcPts val="600"/>
              </a:spcAft>
            </a:pPr>
            <a:r>
              <a:rPr lang="en-US" dirty="0">
                <a:solidFill>
                  <a:schemeClr val="bg1"/>
                </a:solidFill>
              </a:rPr>
              <a:t>Pero </a:t>
            </a:r>
            <a:r>
              <a:rPr lang="en-US" dirty="0" err="1">
                <a:solidFill>
                  <a:schemeClr val="bg1"/>
                </a:solidFill>
              </a:rPr>
              <a:t>visualizar</a:t>
            </a:r>
            <a:r>
              <a:rPr lang="en-US" dirty="0">
                <a:solidFill>
                  <a:schemeClr val="bg1"/>
                </a:solidFill>
              </a:rPr>
              <a:t> las </a:t>
            </a:r>
            <a:r>
              <a:rPr lang="en-US" dirty="0" err="1">
                <a:solidFill>
                  <a:schemeClr val="bg1"/>
                </a:solidFill>
              </a:rPr>
              <a:t>tablas</a:t>
            </a:r>
            <a:r>
              <a:rPr lang="en-US" dirty="0">
                <a:solidFill>
                  <a:schemeClr val="bg1"/>
                </a:solidFill>
              </a:rPr>
              <a:t> no es </a:t>
            </a:r>
            <a:r>
              <a:rPr lang="en-US" dirty="0" err="1">
                <a:solidFill>
                  <a:schemeClr val="bg1"/>
                </a:solidFill>
              </a:rPr>
              <a:t>suficiente</a:t>
            </a:r>
            <a:r>
              <a:rPr lang="en-US" dirty="0">
                <a:solidFill>
                  <a:schemeClr val="bg1"/>
                </a:solidFill>
              </a:rPr>
              <a:t> para </a:t>
            </a:r>
            <a:r>
              <a:rPr lang="en-US" dirty="0" err="1">
                <a:solidFill>
                  <a:schemeClr val="bg1"/>
                </a:solidFill>
              </a:rPr>
              <a:t>poder</a:t>
            </a:r>
            <a:r>
              <a:rPr lang="en-US" dirty="0">
                <a:solidFill>
                  <a:schemeClr val="bg1"/>
                </a:solidFill>
              </a:rPr>
              <a:t> </a:t>
            </a:r>
            <a:r>
              <a:rPr lang="en-US" dirty="0" err="1">
                <a:solidFill>
                  <a:schemeClr val="bg1"/>
                </a:solidFill>
              </a:rPr>
              <a:t>detectar</a:t>
            </a:r>
            <a:r>
              <a:rPr lang="en-US" dirty="0">
                <a:solidFill>
                  <a:schemeClr val="bg1"/>
                </a:solidFill>
              </a:rPr>
              <a:t> </a:t>
            </a:r>
            <a:r>
              <a:rPr lang="en-US" dirty="0" err="1">
                <a:solidFill>
                  <a:schemeClr val="bg1"/>
                </a:solidFill>
              </a:rPr>
              <a:t>los</a:t>
            </a:r>
            <a:r>
              <a:rPr lang="en-US" dirty="0">
                <a:solidFill>
                  <a:schemeClr val="bg1"/>
                </a:solidFill>
              </a:rPr>
              <a:t> </a:t>
            </a:r>
            <a:r>
              <a:rPr lang="en-US" dirty="0" err="1">
                <a:solidFill>
                  <a:schemeClr val="bg1"/>
                </a:solidFill>
              </a:rPr>
              <a:t>errores</a:t>
            </a:r>
            <a:r>
              <a:rPr lang="en-US" dirty="0">
                <a:solidFill>
                  <a:schemeClr val="bg1"/>
                </a:solidFill>
              </a:rPr>
              <a:t> y </a:t>
            </a:r>
            <a:r>
              <a:rPr lang="en-US" dirty="0" err="1">
                <a:solidFill>
                  <a:schemeClr val="bg1"/>
                </a:solidFill>
              </a:rPr>
              <a:t>tenerlos</a:t>
            </a:r>
            <a:r>
              <a:rPr lang="en-US" dirty="0">
                <a:solidFill>
                  <a:schemeClr val="bg1"/>
                </a:solidFill>
              </a:rPr>
              <a:t> </a:t>
            </a:r>
            <a:r>
              <a:rPr lang="en-US" dirty="0" err="1">
                <a:solidFill>
                  <a:schemeClr val="bg1"/>
                </a:solidFill>
              </a:rPr>
              <a:t>marcados</a:t>
            </a:r>
            <a:r>
              <a:rPr lang="en-US" dirty="0">
                <a:solidFill>
                  <a:schemeClr val="bg1"/>
                </a:solidFill>
              </a:rPr>
              <a:t>, es </a:t>
            </a:r>
            <a:r>
              <a:rPr lang="en-US" dirty="0" err="1">
                <a:solidFill>
                  <a:schemeClr val="bg1"/>
                </a:solidFill>
              </a:rPr>
              <a:t>por</a:t>
            </a:r>
            <a:r>
              <a:rPr lang="en-US" dirty="0">
                <a:solidFill>
                  <a:schemeClr val="bg1"/>
                </a:solidFill>
              </a:rPr>
              <a:t> </a:t>
            </a:r>
            <a:r>
              <a:rPr lang="en-US" dirty="0" err="1">
                <a:solidFill>
                  <a:schemeClr val="bg1"/>
                </a:solidFill>
              </a:rPr>
              <a:t>ello</a:t>
            </a:r>
            <a:r>
              <a:rPr lang="en-US" dirty="0">
                <a:solidFill>
                  <a:schemeClr val="bg1"/>
                </a:solidFill>
              </a:rPr>
              <a:t> </a:t>
            </a:r>
            <a:r>
              <a:rPr lang="en-US" dirty="0" err="1">
                <a:solidFill>
                  <a:schemeClr val="bg1"/>
                </a:solidFill>
              </a:rPr>
              <a:t>que</a:t>
            </a:r>
            <a:r>
              <a:rPr lang="en-US" dirty="0">
                <a:solidFill>
                  <a:schemeClr val="bg1"/>
                </a:solidFill>
              </a:rPr>
              <a:t> </a:t>
            </a:r>
            <a:r>
              <a:rPr lang="en-US" dirty="0" err="1">
                <a:solidFill>
                  <a:schemeClr val="bg1"/>
                </a:solidFill>
              </a:rPr>
              <a:t>en</a:t>
            </a:r>
            <a:r>
              <a:rPr lang="en-US" dirty="0">
                <a:solidFill>
                  <a:schemeClr val="bg1"/>
                </a:solidFill>
              </a:rPr>
              <a:t> </a:t>
            </a:r>
            <a:r>
              <a:rPr lang="en-US" dirty="0" err="1">
                <a:solidFill>
                  <a:schemeClr val="bg1"/>
                </a:solidFill>
              </a:rPr>
              <a:t>el</a:t>
            </a:r>
            <a:r>
              <a:rPr lang="en-US" dirty="0">
                <a:solidFill>
                  <a:schemeClr val="bg1"/>
                </a:solidFill>
              </a:rPr>
              <a:t> </a:t>
            </a:r>
            <a:r>
              <a:rPr lang="en-US" dirty="0" err="1">
                <a:solidFill>
                  <a:schemeClr val="bg1"/>
                </a:solidFill>
              </a:rPr>
              <a:t>proceso</a:t>
            </a:r>
            <a:r>
              <a:rPr lang="en-US" dirty="0">
                <a:solidFill>
                  <a:schemeClr val="bg1"/>
                </a:solidFill>
              </a:rPr>
              <a:t> del </a:t>
            </a:r>
            <a:r>
              <a:rPr lang="en-US" dirty="0" err="1">
                <a:solidFill>
                  <a:schemeClr val="bg1"/>
                </a:solidFill>
              </a:rPr>
              <a:t>análisis</a:t>
            </a:r>
            <a:r>
              <a:rPr lang="en-US" dirty="0">
                <a:solidFill>
                  <a:schemeClr val="bg1"/>
                </a:solidFill>
              </a:rPr>
              <a:t>, también </a:t>
            </a:r>
            <a:r>
              <a:rPr lang="en-US" dirty="0" err="1">
                <a:solidFill>
                  <a:schemeClr val="bg1"/>
                </a:solidFill>
              </a:rPr>
              <a:t>hicimos</a:t>
            </a:r>
            <a:r>
              <a:rPr lang="en-US" dirty="0">
                <a:solidFill>
                  <a:schemeClr val="bg1"/>
                </a:solidFill>
              </a:rPr>
              <a:t> </a:t>
            </a:r>
            <a:r>
              <a:rPr lang="en-US" dirty="0" err="1">
                <a:solidFill>
                  <a:schemeClr val="bg1"/>
                </a:solidFill>
              </a:rPr>
              <a:t>usos</a:t>
            </a:r>
            <a:r>
              <a:rPr lang="en-US" dirty="0">
                <a:solidFill>
                  <a:schemeClr val="bg1"/>
                </a:solidFill>
              </a:rPr>
              <a:t> de </a:t>
            </a:r>
            <a:r>
              <a:rPr lang="en-US" dirty="0" err="1">
                <a:solidFill>
                  <a:schemeClr val="bg1"/>
                </a:solidFill>
              </a:rPr>
              <a:t>figuras</a:t>
            </a:r>
            <a:r>
              <a:rPr lang="en-US" dirty="0">
                <a:solidFill>
                  <a:schemeClr val="bg1"/>
                </a:solidFill>
              </a:rPr>
              <a:t> tales </a:t>
            </a:r>
            <a:r>
              <a:rPr lang="en-US" dirty="0" err="1">
                <a:solidFill>
                  <a:schemeClr val="bg1"/>
                </a:solidFill>
              </a:rPr>
              <a:t>como</a:t>
            </a:r>
            <a:r>
              <a:rPr lang="en-US" dirty="0">
                <a:solidFill>
                  <a:schemeClr val="bg1"/>
                </a:solidFill>
              </a:rPr>
              <a:t> </a:t>
            </a:r>
            <a:r>
              <a:rPr lang="en-US" dirty="0" err="1">
                <a:solidFill>
                  <a:schemeClr val="bg1"/>
                </a:solidFill>
              </a:rPr>
              <a:t>diagramas</a:t>
            </a:r>
            <a:r>
              <a:rPr lang="en-US" dirty="0">
                <a:solidFill>
                  <a:schemeClr val="bg1"/>
                </a:solidFill>
              </a:rPr>
              <a:t> de Ishikawa y </a:t>
            </a:r>
            <a:r>
              <a:rPr lang="en-US" dirty="0" err="1">
                <a:solidFill>
                  <a:schemeClr val="bg1"/>
                </a:solidFill>
              </a:rPr>
              <a:t>arboles</a:t>
            </a:r>
            <a:r>
              <a:rPr lang="en-US" dirty="0">
                <a:solidFill>
                  <a:schemeClr val="bg1"/>
                </a:solidFill>
              </a:rPr>
              <a:t> de </a:t>
            </a:r>
            <a:r>
              <a:rPr lang="en-US" dirty="0" err="1">
                <a:solidFill>
                  <a:schemeClr val="bg1"/>
                </a:solidFill>
              </a:rPr>
              <a:t>problemas</a:t>
            </a:r>
            <a:r>
              <a:rPr lang="en-US" dirty="0">
                <a:solidFill>
                  <a:schemeClr val="bg1"/>
                </a:solidFill>
              </a:rPr>
              <a:t>, no solo para </a:t>
            </a:r>
            <a:r>
              <a:rPr lang="en-US" dirty="0" err="1">
                <a:solidFill>
                  <a:schemeClr val="bg1"/>
                </a:solidFill>
              </a:rPr>
              <a:t>tener</a:t>
            </a:r>
            <a:r>
              <a:rPr lang="en-US" dirty="0">
                <a:solidFill>
                  <a:schemeClr val="bg1"/>
                </a:solidFill>
              </a:rPr>
              <a:t> </a:t>
            </a:r>
            <a:r>
              <a:rPr lang="en-US" dirty="0" err="1">
                <a:solidFill>
                  <a:schemeClr val="bg1"/>
                </a:solidFill>
              </a:rPr>
              <a:t>en</a:t>
            </a:r>
            <a:r>
              <a:rPr lang="en-US" dirty="0">
                <a:solidFill>
                  <a:schemeClr val="bg1"/>
                </a:solidFill>
              </a:rPr>
              <a:t> claro </a:t>
            </a:r>
            <a:r>
              <a:rPr lang="en-US" dirty="0" err="1">
                <a:solidFill>
                  <a:schemeClr val="bg1"/>
                </a:solidFill>
              </a:rPr>
              <a:t>los</a:t>
            </a:r>
            <a:r>
              <a:rPr lang="en-US" dirty="0">
                <a:solidFill>
                  <a:schemeClr val="bg1"/>
                </a:solidFill>
              </a:rPr>
              <a:t> </a:t>
            </a:r>
            <a:r>
              <a:rPr lang="en-US" dirty="0" err="1">
                <a:solidFill>
                  <a:schemeClr val="bg1"/>
                </a:solidFill>
              </a:rPr>
              <a:t>problemas</a:t>
            </a:r>
            <a:r>
              <a:rPr lang="en-US" dirty="0">
                <a:solidFill>
                  <a:schemeClr val="bg1"/>
                </a:solidFill>
              </a:rPr>
              <a:t> </a:t>
            </a:r>
            <a:r>
              <a:rPr lang="en-US" dirty="0" err="1">
                <a:solidFill>
                  <a:schemeClr val="bg1"/>
                </a:solidFill>
              </a:rPr>
              <a:t>en</a:t>
            </a:r>
            <a:r>
              <a:rPr lang="en-US" dirty="0">
                <a:solidFill>
                  <a:schemeClr val="bg1"/>
                </a:solidFill>
              </a:rPr>
              <a:t> la </a:t>
            </a:r>
            <a:r>
              <a:rPr lang="en-US" dirty="0" err="1">
                <a:solidFill>
                  <a:schemeClr val="bg1"/>
                </a:solidFill>
              </a:rPr>
              <a:t>empresa</a:t>
            </a:r>
            <a:r>
              <a:rPr lang="en-US" dirty="0">
                <a:solidFill>
                  <a:schemeClr val="bg1"/>
                </a:solidFill>
              </a:rPr>
              <a:t>, </a:t>
            </a:r>
            <a:r>
              <a:rPr lang="en-US" dirty="0" err="1">
                <a:solidFill>
                  <a:schemeClr val="bg1"/>
                </a:solidFill>
              </a:rPr>
              <a:t>sino</a:t>
            </a:r>
            <a:r>
              <a:rPr lang="en-US" dirty="0">
                <a:solidFill>
                  <a:schemeClr val="bg1"/>
                </a:solidFill>
              </a:rPr>
              <a:t> también para </a:t>
            </a:r>
            <a:r>
              <a:rPr lang="en-US" dirty="0" err="1">
                <a:solidFill>
                  <a:schemeClr val="bg1"/>
                </a:solidFill>
              </a:rPr>
              <a:t>evaluar</a:t>
            </a:r>
            <a:r>
              <a:rPr lang="en-US" dirty="0">
                <a:solidFill>
                  <a:schemeClr val="bg1"/>
                </a:solidFill>
              </a:rPr>
              <a:t> </a:t>
            </a:r>
            <a:r>
              <a:rPr lang="en-US" dirty="0" err="1">
                <a:solidFill>
                  <a:schemeClr val="bg1"/>
                </a:solidFill>
              </a:rPr>
              <a:t>nuestro</a:t>
            </a:r>
            <a:r>
              <a:rPr lang="en-US" dirty="0">
                <a:solidFill>
                  <a:schemeClr val="bg1"/>
                </a:solidFill>
              </a:rPr>
              <a:t> </a:t>
            </a:r>
            <a:r>
              <a:rPr lang="en-US" dirty="0" err="1">
                <a:solidFill>
                  <a:schemeClr val="bg1"/>
                </a:solidFill>
              </a:rPr>
              <a:t>comprendimiento</a:t>
            </a:r>
            <a:r>
              <a:rPr lang="en-US" dirty="0">
                <a:solidFill>
                  <a:schemeClr val="bg1"/>
                </a:solidFill>
              </a:rPr>
              <a:t> de la </a:t>
            </a:r>
            <a:r>
              <a:rPr lang="en-US" dirty="0" err="1">
                <a:solidFill>
                  <a:schemeClr val="bg1"/>
                </a:solidFill>
              </a:rPr>
              <a:t>situacion</a:t>
            </a:r>
            <a:r>
              <a:rPr lang="en-US" dirty="0">
                <a:solidFill>
                  <a:schemeClr val="bg1"/>
                </a:solidFill>
              </a:rPr>
              <a:t>, </a:t>
            </a:r>
            <a:r>
              <a:rPr lang="en-US" dirty="0" err="1">
                <a:solidFill>
                  <a:schemeClr val="bg1"/>
                </a:solidFill>
              </a:rPr>
              <a:t>cosa</a:t>
            </a:r>
            <a:r>
              <a:rPr lang="en-US" dirty="0">
                <a:solidFill>
                  <a:schemeClr val="bg1"/>
                </a:solidFill>
              </a:rPr>
              <a:t> lo </a:t>
            </a:r>
            <a:r>
              <a:rPr lang="en-US" dirty="0" err="1">
                <a:solidFill>
                  <a:schemeClr val="bg1"/>
                </a:solidFill>
              </a:rPr>
              <a:t>cual</a:t>
            </a:r>
            <a:r>
              <a:rPr lang="en-US" dirty="0">
                <a:solidFill>
                  <a:schemeClr val="bg1"/>
                </a:solidFill>
              </a:rPr>
              <a:t>, </a:t>
            </a:r>
            <a:r>
              <a:rPr lang="en-US" dirty="0" err="1">
                <a:solidFill>
                  <a:schemeClr val="bg1"/>
                </a:solidFill>
              </a:rPr>
              <a:t>nos</a:t>
            </a:r>
            <a:r>
              <a:rPr lang="en-US" dirty="0">
                <a:solidFill>
                  <a:schemeClr val="bg1"/>
                </a:solidFill>
              </a:rPr>
              <a:t> </a:t>
            </a:r>
            <a:r>
              <a:rPr lang="en-US" dirty="0" err="1">
                <a:solidFill>
                  <a:schemeClr val="bg1"/>
                </a:solidFill>
              </a:rPr>
              <a:t>será</a:t>
            </a:r>
            <a:r>
              <a:rPr lang="en-US" dirty="0">
                <a:solidFill>
                  <a:schemeClr val="bg1"/>
                </a:solidFill>
              </a:rPr>
              <a:t> </a:t>
            </a:r>
            <a:r>
              <a:rPr lang="en-US" dirty="0" err="1">
                <a:solidFill>
                  <a:schemeClr val="bg1"/>
                </a:solidFill>
              </a:rPr>
              <a:t>útil</a:t>
            </a:r>
            <a:r>
              <a:rPr lang="en-US" dirty="0">
                <a:solidFill>
                  <a:schemeClr val="bg1"/>
                </a:solidFill>
              </a:rPr>
              <a:t> para </a:t>
            </a:r>
            <a:r>
              <a:rPr lang="en-US" dirty="0" err="1">
                <a:solidFill>
                  <a:schemeClr val="bg1"/>
                </a:solidFill>
              </a:rPr>
              <a:t>poder</a:t>
            </a:r>
            <a:r>
              <a:rPr lang="en-US" dirty="0">
                <a:solidFill>
                  <a:schemeClr val="bg1"/>
                </a:solidFill>
              </a:rPr>
              <a:t> </a:t>
            </a:r>
            <a:r>
              <a:rPr lang="en-US" dirty="0" err="1">
                <a:solidFill>
                  <a:schemeClr val="bg1"/>
                </a:solidFill>
              </a:rPr>
              <a:t>buscar</a:t>
            </a:r>
            <a:r>
              <a:rPr lang="en-US" dirty="0">
                <a:solidFill>
                  <a:schemeClr val="bg1"/>
                </a:solidFill>
              </a:rPr>
              <a:t> la </a:t>
            </a:r>
            <a:r>
              <a:rPr lang="en-US" dirty="0" err="1">
                <a:solidFill>
                  <a:schemeClr val="bg1"/>
                </a:solidFill>
              </a:rPr>
              <a:t>lógica</a:t>
            </a:r>
            <a:r>
              <a:rPr lang="en-US" dirty="0">
                <a:solidFill>
                  <a:schemeClr val="bg1"/>
                </a:solidFill>
              </a:rPr>
              <a:t> de las </a:t>
            </a:r>
            <a:r>
              <a:rPr lang="en-US" dirty="0" err="1">
                <a:solidFill>
                  <a:schemeClr val="bg1"/>
                </a:solidFill>
              </a:rPr>
              <a:t>tablas</a:t>
            </a:r>
            <a:r>
              <a:rPr lang="en-US" dirty="0">
                <a:solidFill>
                  <a:schemeClr val="bg1"/>
                </a:solidFill>
              </a:rPr>
              <a:t>.</a:t>
            </a:r>
          </a:p>
        </p:txBody>
      </p:sp>
      <p:pic>
        <p:nvPicPr>
          <p:cNvPr id="4" name="Imagen 3">
            <a:extLst>
              <a:ext uri="{FF2B5EF4-FFF2-40B4-BE49-F238E27FC236}">
                <a16:creationId xmlns:a16="http://schemas.microsoft.com/office/drawing/2014/main" id="{F6135C54-2CA8-70AF-B9EF-5F41A47EB833}"/>
              </a:ext>
            </a:extLst>
          </p:cNvPr>
          <p:cNvPicPr>
            <a:picLocks noChangeAspect="1"/>
          </p:cNvPicPr>
          <p:nvPr/>
        </p:nvPicPr>
        <p:blipFill>
          <a:blip r:embed="rId2"/>
          <a:stretch>
            <a:fillRect/>
          </a:stretch>
        </p:blipFill>
        <p:spPr>
          <a:xfrm>
            <a:off x="7315200" y="780164"/>
            <a:ext cx="4076700" cy="2475138"/>
          </a:xfrm>
          <a:prstGeom prst="rect">
            <a:avLst/>
          </a:prstGeom>
        </p:spPr>
      </p:pic>
      <p:cxnSp>
        <p:nvCxnSpPr>
          <p:cNvPr id="19" name="Straight Connector 18">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0DAF98CD-5FA2-EC96-8EAF-095FAE3487FF}"/>
              </a:ext>
            </a:extLst>
          </p:cNvPr>
          <p:cNvPicPr>
            <a:picLocks noChangeAspect="1"/>
          </p:cNvPicPr>
          <p:nvPr/>
        </p:nvPicPr>
        <p:blipFill>
          <a:blip r:embed="rId3"/>
          <a:stretch>
            <a:fillRect/>
          </a:stretch>
        </p:blipFill>
        <p:spPr>
          <a:xfrm>
            <a:off x="7315200" y="4019609"/>
            <a:ext cx="4076700" cy="1702022"/>
          </a:xfrm>
          <a:prstGeom prst="rect">
            <a:avLst/>
          </a:prstGeom>
        </p:spPr>
      </p:pic>
    </p:spTree>
    <p:extLst>
      <p:ext uri="{BB962C8B-B14F-4D97-AF65-F5344CB8AC3E}">
        <p14:creationId xmlns:p14="http://schemas.microsoft.com/office/powerpoint/2010/main" val="3971213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rect">
            <a:fillToRect l="100000" t="100000"/>
          </a:path>
        </a:gradFill>
        <a:effectLst/>
      </p:bgPr>
    </p:bg>
    <p:spTree>
      <p:nvGrpSpPr>
        <p:cNvPr id="1" name=""/>
        <p:cNvGrpSpPr/>
        <p:nvPr/>
      </p:nvGrpSpPr>
      <p:grpSpPr>
        <a:xfrm>
          <a:off x="0" y="0"/>
          <a:ext cx="0" cy="0"/>
          <a:chOff x="0" y="0"/>
          <a:chExt cx="0" cy="0"/>
        </a:xfrm>
      </p:grpSpPr>
      <p:sp useBgFill="1">
        <p:nvSpPr>
          <p:cNvPr id="20"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51B9EAA-A309-6B11-3E9F-CC2E758EC2B4}"/>
              </a:ext>
            </a:extLst>
          </p:cNvPr>
          <p:cNvSpPr>
            <a:spLocks noGrp="1"/>
          </p:cNvSpPr>
          <p:nvPr>
            <p:ph type="title"/>
          </p:nvPr>
        </p:nvSpPr>
        <p:spPr>
          <a:xfrm>
            <a:off x="704087" y="559063"/>
            <a:ext cx="3306747" cy="5256025"/>
          </a:xfrm>
        </p:spPr>
        <p:txBody>
          <a:bodyPr>
            <a:normAutofit/>
          </a:bodyPr>
          <a:lstStyle/>
          <a:p>
            <a:r>
              <a:rPr lang="es-PE" sz="3600"/>
              <a:t>Solución</a:t>
            </a:r>
          </a:p>
        </p:txBody>
      </p:sp>
      <p:sp>
        <p:nvSpPr>
          <p:cNvPr id="3" name="Marcador de contenido 2">
            <a:extLst>
              <a:ext uri="{FF2B5EF4-FFF2-40B4-BE49-F238E27FC236}">
                <a16:creationId xmlns:a16="http://schemas.microsoft.com/office/drawing/2014/main" id="{E1EDE85C-7421-DBA5-5205-ECEC6D11DB2C}"/>
              </a:ext>
            </a:extLst>
          </p:cNvPr>
          <p:cNvSpPr>
            <a:spLocks noGrp="1"/>
          </p:cNvSpPr>
          <p:nvPr>
            <p:ph idx="1"/>
          </p:nvPr>
        </p:nvSpPr>
        <p:spPr>
          <a:xfrm>
            <a:off x="4643022" y="622249"/>
            <a:ext cx="6844892" cy="5639712"/>
          </a:xfrm>
        </p:spPr>
        <p:txBody>
          <a:bodyPr>
            <a:normAutofit/>
          </a:bodyPr>
          <a:lstStyle/>
          <a:p>
            <a:r>
              <a:rPr lang="es-PE" dirty="0"/>
              <a:t>Para poder brindar solución a los problemas de Camposol, decidimos crear una base de datos que cuente con 11 tablas (9 inicialmente), con lo cual podremos no solo registrar las opiniones de los usuarios, sino también tener un mejor registro de nuestros productos, nuestras ganancias, nuestras exportaciones e incluso de nuestras certificaciones, dando así a la empresa una solución la cual le brindara una estructura organizada, conectada de punta a punta y mucho mas manejable y legible. </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1951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613570-3A79-3BAD-B712-F48F7EDA7A65}"/>
              </a:ext>
            </a:extLst>
          </p:cNvPr>
          <p:cNvSpPr>
            <a:spLocks noGrp="1"/>
          </p:cNvSpPr>
          <p:nvPr>
            <p:ph type="title"/>
          </p:nvPr>
        </p:nvSpPr>
        <p:spPr>
          <a:xfrm>
            <a:off x="893338" y="929146"/>
            <a:ext cx="10689336" cy="798451"/>
          </a:xfrm>
        </p:spPr>
        <p:style>
          <a:lnRef idx="3">
            <a:schemeClr val="lt1"/>
          </a:lnRef>
          <a:fillRef idx="1">
            <a:schemeClr val="accent3"/>
          </a:fillRef>
          <a:effectRef idx="1">
            <a:schemeClr val="accent3"/>
          </a:effectRef>
          <a:fontRef idx="minor">
            <a:schemeClr val="lt1"/>
          </a:fontRef>
        </p:style>
        <p:txBody>
          <a:bodyPr/>
          <a:lstStyle/>
          <a:p>
            <a:pPr algn="ctr"/>
            <a:r>
              <a:rPr lang="es-PE" dirty="0"/>
              <a:t>Estructura de la base de datos</a:t>
            </a:r>
          </a:p>
        </p:txBody>
      </p:sp>
      <p:sp>
        <p:nvSpPr>
          <p:cNvPr id="3" name="Marcador de texto 2">
            <a:extLst>
              <a:ext uri="{FF2B5EF4-FFF2-40B4-BE49-F238E27FC236}">
                <a16:creationId xmlns:a16="http://schemas.microsoft.com/office/drawing/2014/main" id="{9B1AB390-7F5A-2B48-0B0A-FA245BEA4C16}"/>
              </a:ext>
            </a:extLst>
          </p:cNvPr>
          <p:cNvSpPr>
            <a:spLocks noGrp="1"/>
          </p:cNvSpPr>
          <p:nvPr>
            <p:ph type="body" idx="1"/>
          </p:nvPr>
        </p:nvSpPr>
        <p:spPr>
          <a:xfrm>
            <a:off x="704087" y="1727598"/>
            <a:ext cx="5212080" cy="657225"/>
          </a:xfrm>
        </p:spPr>
        <p:style>
          <a:lnRef idx="1">
            <a:schemeClr val="dk1"/>
          </a:lnRef>
          <a:fillRef idx="2">
            <a:schemeClr val="dk1"/>
          </a:fillRef>
          <a:effectRef idx="1">
            <a:schemeClr val="dk1"/>
          </a:effectRef>
          <a:fontRef idx="minor">
            <a:schemeClr val="dk1"/>
          </a:fontRef>
        </p:style>
        <p:txBody>
          <a:bodyPr>
            <a:normAutofit/>
          </a:bodyPr>
          <a:lstStyle/>
          <a:p>
            <a:pPr algn="ctr"/>
            <a:r>
              <a:rPr lang="es-PE" sz="2000" dirty="0"/>
              <a:t>Sin corrección en base a las 3FN</a:t>
            </a:r>
          </a:p>
        </p:txBody>
      </p:sp>
      <p:sp>
        <p:nvSpPr>
          <p:cNvPr id="9" name="Rectángulo 8">
            <a:extLst>
              <a:ext uri="{FF2B5EF4-FFF2-40B4-BE49-F238E27FC236}">
                <a16:creationId xmlns:a16="http://schemas.microsoft.com/office/drawing/2014/main" id="{A49E1D91-39ED-7195-1D58-BC303BB9EE35}"/>
              </a:ext>
            </a:extLst>
          </p:cNvPr>
          <p:cNvSpPr/>
          <p:nvPr/>
        </p:nvSpPr>
        <p:spPr>
          <a:xfrm>
            <a:off x="704087" y="2384822"/>
            <a:ext cx="11067838" cy="3866076"/>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Marcador de texto 4">
            <a:extLst>
              <a:ext uri="{FF2B5EF4-FFF2-40B4-BE49-F238E27FC236}">
                <a16:creationId xmlns:a16="http://schemas.microsoft.com/office/drawing/2014/main" id="{77C09CCB-0411-885C-8DD5-7C1AD0450DE3}"/>
              </a:ext>
            </a:extLst>
          </p:cNvPr>
          <p:cNvSpPr>
            <a:spLocks noGrp="1"/>
          </p:cNvSpPr>
          <p:nvPr>
            <p:ph type="body" sz="quarter" idx="3"/>
          </p:nvPr>
        </p:nvSpPr>
        <p:spPr>
          <a:xfrm>
            <a:off x="5942059" y="1727597"/>
            <a:ext cx="5855758" cy="657225"/>
          </a:xfrm>
        </p:spPr>
        <p:style>
          <a:lnRef idx="1">
            <a:schemeClr val="dk1"/>
          </a:lnRef>
          <a:fillRef idx="2">
            <a:schemeClr val="dk1"/>
          </a:fillRef>
          <a:effectRef idx="1">
            <a:schemeClr val="dk1"/>
          </a:effectRef>
          <a:fontRef idx="minor">
            <a:schemeClr val="dk1"/>
          </a:fontRef>
        </p:style>
        <p:txBody>
          <a:bodyPr>
            <a:noAutofit/>
          </a:bodyPr>
          <a:lstStyle/>
          <a:p>
            <a:pPr algn="ctr"/>
            <a:r>
              <a:rPr lang="es-PE" sz="2000" dirty="0"/>
              <a:t>Base de datos (Con corrección en base a las 3FN</a:t>
            </a:r>
          </a:p>
        </p:txBody>
      </p:sp>
      <p:pic>
        <p:nvPicPr>
          <p:cNvPr id="7" name="Marcador de contenido 4">
            <a:extLst>
              <a:ext uri="{FF2B5EF4-FFF2-40B4-BE49-F238E27FC236}">
                <a16:creationId xmlns:a16="http://schemas.microsoft.com/office/drawing/2014/main" id="{CEC314C1-F255-78AF-BA6F-8436C79774AB}"/>
              </a:ext>
            </a:extLst>
          </p:cNvPr>
          <p:cNvPicPr>
            <a:picLocks noGrp="1" noChangeAspect="1"/>
          </p:cNvPicPr>
          <p:nvPr>
            <p:ph sz="half" idx="2"/>
          </p:nvPr>
        </p:nvPicPr>
        <p:blipFill>
          <a:blip r:embed="rId2"/>
          <a:stretch>
            <a:fillRect/>
          </a:stretch>
        </p:blipFill>
        <p:spPr>
          <a:xfrm>
            <a:off x="6407962" y="2510385"/>
            <a:ext cx="5211763" cy="3418468"/>
          </a:xfrm>
          <a:prstGeom prst="rect">
            <a:avLst/>
          </a:prstGeom>
        </p:spPr>
      </p:pic>
      <p:pic>
        <p:nvPicPr>
          <p:cNvPr id="8" name="Marcador de contenido 7">
            <a:extLst>
              <a:ext uri="{FF2B5EF4-FFF2-40B4-BE49-F238E27FC236}">
                <a16:creationId xmlns:a16="http://schemas.microsoft.com/office/drawing/2014/main" id="{093EDAFD-EA24-FB23-46C8-395E6429FDD3}"/>
              </a:ext>
            </a:extLst>
          </p:cNvPr>
          <p:cNvPicPr>
            <a:picLocks noGrp="1" noChangeAspect="1"/>
          </p:cNvPicPr>
          <p:nvPr>
            <p:ph sz="quarter" idx="4"/>
          </p:nvPr>
        </p:nvPicPr>
        <p:blipFill rotWithShape="1">
          <a:blip r:embed="rId3"/>
          <a:srcRect l="31045" t="10973" r="29268" b="4368"/>
          <a:stretch/>
        </p:blipFill>
        <p:spPr bwMode="auto">
          <a:xfrm>
            <a:off x="1845392" y="2462074"/>
            <a:ext cx="2929470" cy="351509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41088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49346B-91F6-694A-D5F6-E3BBC1BF0C83}"/>
              </a:ext>
            </a:extLst>
          </p:cNvPr>
          <p:cNvSpPr>
            <a:spLocks noGrp="1"/>
          </p:cNvSpPr>
          <p:nvPr>
            <p:ph type="title"/>
          </p:nvPr>
        </p:nvSpPr>
        <p:spPr/>
        <p:txBody>
          <a:bodyPr/>
          <a:lstStyle/>
          <a:p>
            <a:r>
              <a:rPr lang="es-PE" dirty="0"/>
              <a:t>Datos dentro de las tablas</a:t>
            </a:r>
          </a:p>
        </p:txBody>
      </p:sp>
      <p:pic>
        <p:nvPicPr>
          <p:cNvPr id="7" name="Imagen 6">
            <a:extLst>
              <a:ext uri="{FF2B5EF4-FFF2-40B4-BE49-F238E27FC236}">
                <a16:creationId xmlns:a16="http://schemas.microsoft.com/office/drawing/2014/main" id="{F13875F1-9BC2-EC2A-2D6C-F17421AC0BE3}"/>
              </a:ext>
            </a:extLst>
          </p:cNvPr>
          <p:cNvPicPr>
            <a:picLocks noChangeAspect="1"/>
          </p:cNvPicPr>
          <p:nvPr/>
        </p:nvPicPr>
        <p:blipFill>
          <a:blip r:embed="rId2"/>
          <a:stretch>
            <a:fillRect/>
          </a:stretch>
        </p:blipFill>
        <p:spPr>
          <a:xfrm>
            <a:off x="370258" y="1727598"/>
            <a:ext cx="4982210" cy="1371600"/>
          </a:xfrm>
          <a:prstGeom prst="rect">
            <a:avLst/>
          </a:prstGeom>
        </p:spPr>
      </p:pic>
      <p:pic>
        <p:nvPicPr>
          <p:cNvPr id="9" name="Imagen 8">
            <a:extLst>
              <a:ext uri="{FF2B5EF4-FFF2-40B4-BE49-F238E27FC236}">
                <a16:creationId xmlns:a16="http://schemas.microsoft.com/office/drawing/2014/main" id="{7F07AC12-5566-D9AA-458D-D9DA801F64CB}"/>
              </a:ext>
            </a:extLst>
          </p:cNvPr>
          <p:cNvPicPr>
            <a:picLocks noChangeAspect="1"/>
          </p:cNvPicPr>
          <p:nvPr/>
        </p:nvPicPr>
        <p:blipFill>
          <a:blip r:embed="rId3"/>
          <a:stretch>
            <a:fillRect/>
          </a:stretch>
        </p:blipFill>
        <p:spPr>
          <a:xfrm>
            <a:off x="370258" y="3217164"/>
            <a:ext cx="4982210" cy="915124"/>
          </a:xfrm>
          <a:prstGeom prst="rect">
            <a:avLst/>
          </a:prstGeom>
        </p:spPr>
      </p:pic>
      <p:pic>
        <p:nvPicPr>
          <p:cNvPr id="10" name="Imagen 9">
            <a:extLst>
              <a:ext uri="{FF2B5EF4-FFF2-40B4-BE49-F238E27FC236}">
                <a16:creationId xmlns:a16="http://schemas.microsoft.com/office/drawing/2014/main" id="{CA904242-D1CA-05DD-3AE6-BE4D83E1C387}"/>
              </a:ext>
            </a:extLst>
          </p:cNvPr>
          <p:cNvPicPr>
            <a:picLocks noChangeAspect="1"/>
          </p:cNvPicPr>
          <p:nvPr/>
        </p:nvPicPr>
        <p:blipFill>
          <a:blip r:embed="rId4"/>
          <a:stretch>
            <a:fillRect/>
          </a:stretch>
        </p:blipFill>
        <p:spPr>
          <a:xfrm>
            <a:off x="370258" y="4367063"/>
            <a:ext cx="4982210" cy="953205"/>
          </a:xfrm>
          <a:prstGeom prst="rect">
            <a:avLst/>
          </a:prstGeom>
        </p:spPr>
      </p:pic>
      <p:pic>
        <p:nvPicPr>
          <p:cNvPr id="11" name="Imagen 10">
            <a:extLst>
              <a:ext uri="{FF2B5EF4-FFF2-40B4-BE49-F238E27FC236}">
                <a16:creationId xmlns:a16="http://schemas.microsoft.com/office/drawing/2014/main" id="{641B67A7-8872-F012-3D26-5517C7080C5C}"/>
              </a:ext>
            </a:extLst>
          </p:cNvPr>
          <p:cNvPicPr>
            <a:picLocks noChangeAspect="1"/>
          </p:cNvPicPr>
          <p:nvPr/>
        </p:nvPicPr>
        <p:blipFill>
          <a:blip r:embed="rId5"/>
          <a:stretch>
            <a:fillRect/>
          </a:stretch>
        </p:blipFill>
        <p:spPr>
          <a:xfrm>
            <a:off x="5686297" y="2831446"/>
            <a:ext cx="5400040" cy="843280"/>
          </a:xfrm>
          <a:prstGeom prst="rect">
            <a:avLst/>
          </a:prstGeom>
        </p:spPr>
      </p:pic>
      <p:pic>
        <p:nvPicPr>
          <p:cNvPr id="13" name="Imagen 12">
            <a:extLst>
              <a:ext uri="{FF2B5EF4-FFF2-40B4-BE49-F238E27FC236}">
                <a16:creationId xmlns:a16="http://schemas.microsoft.com/office/drawing/2014/main" id="{5ACB744E-989A-4FCC-9FBF-43CAA7551FF8}"/>
              </a:ext>
            </a:extLst>
          </p:cNvPr>
          <p:cNvPicPr>
            <a:picLocks noChangeAspect="1"/>
          </p:cNvPicPr>
          <p:nvPr/>
        </p:nvPicPr>
        <p:blipFill>
          <a:blip r:embed="rId6"/>
          <a:stretch>
            <a:fillRect/>
          </a:stretch>
        </p:blipFill>
        <p:spPr>
          <a:xfrm>
            <a:off x="6096000" y="3792770"/>
            <a:ext cx="4009246" cy="2201026"/>
          </a:xfrm>
          <a:prstGeom prst="rect">
            <a:avLst/>
          </a:prstGeom>
        </p:spPr>
      </p:pic>
      <p:pic>
        <p:nvPicPr>
          <p:cNvPr id="14" name="Imagen 13">
            <a:extLst>
              <a:ext uri="{FF2B5EF4-FFF2-40B4-BE49-F238E27FC236}">
                <a16:creationId xmlns:a16="http://schemas.microsoft.com/office/drawing/2014/main" id="{1C178EA4-F3B7-A385-E1F3-464A9487928D}"/>
              </a:ext>
            </a:extLst>
          </p:cNvPr>
          <p:cNvPicPr>
            <a:picLocks noChangeAspect="1"/>
          </p:cNvPicPr>
          <p:nvPr/>
        </p:nvPicPr>
        <p:blipFill>
          <a:blip r:embed="rId7"/>
          <a:stretch>
            <a:fillRect/>
          </a:stretch>
        </p:blipFill>
        <p:spPr>
          <a:xfrm>
            <a:off x="5686297" y="1664382"/>
            <a:ext cx="5400040" cy="1049020"/>
          </a:xfrm>
          <a:prstGeom prst="rect">
            <a:avLst/>
          </a:prstGeom>
        </p:spPr>
      </p:pic>
    </p:spTree>
    <p:extLst>
      <p:ext uri="{BB962C8B-B14F-4D97-AF65-F5344CB8AC3E}">
        <p14:creationId xmlns:p14="http://schemas.microsoft.com/office/powerpoint/2010/main" val="4035336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gradFill>
        <a:effectLst/>
      </p:bgPr>
    </p:bg>
    <p:spTree>
      <p:nvGrpSpPr>
        <p:cNvPr id="1" name="">
          <a:extLst>
            <a:ext uri="{FF2B5EF4-FFF2-40B4-BE49-F238E27FC236}">
              <a16:creationId xmlns:a16="http://schemas.microsoft.com/office/drawing/2014/main" id="{F99431B1-2A36-F6B5-0953-B4CCA8D5BD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7F9199-FBA3-87B7-9D62-62BA4FB39A2E}"/>
              </a:ext>
            </a:extLst>
          </p:cNvPr>
          <p:cNvSpPr>
            <a:spLocks noGrp="1"/>
          </p:cNvSpPr>
          <p:nvPr>
            <p:ph type="title"/>
          </p:nvPr>
        </p:nvSpPr>
        <p:spPr/>
        <p:txBody>
          <a:bodyPr/>
          <a:lstStyle/>
          <a:p>
            <a:r>
              <a:rPr lang="es-PE" dirty="0"/>
              <a:t>Datos dentro de las tablas</a:t>
            </a:r>
          </a:p>
        </p:txBody>
      </p:sp>
      <p:pic>
        <p:nvPicPr>
          <p:cNvPr id="12" name="Imagen 11">
            <a:extLst>
              <a:ext uri="{FF2B5EF4-FFF2-40B4-BE49-F238E27FC236}">
                <a16:creationId xmlns:a16="http://schemas.microsoft.com/office/drawing/2014/main" id="{FB7B5387-2357-A7EC-E3E5-53790188B6CF}"/>
              </a:ext>
            </a:extLst>
          </p:cNvPr>
          <p:cNvPicPr>
            <a:picLocks noChangeAspect="1"/>
          </p:cNvPicPr>
          <p:nvPr/>
        </p:nvPicPr>
        <p:blipFill>
          <a:blip r:embed="rId2"/>
          <a:stretch>
            <a:fillRect/>
          </a:stretch>
        </p:blipFill>
        <p:spPr>
          <a:xfrm>
            <a:off x="704087" y="1727598"/>
            <a:ext cx="2590656" cy="3808264"/>
          </a:xfrm>
          <a:prstGeom prst="rect">
            <a:avLst/>
          </a:prstGeom>
        </p:spPr>
      </p:pic>
      <p:pic>
        <p:nvPicPr>
          <p:cNvPr id="3" name="Imagen 2">
            <a:extLst>
              <a:ext uri="{FF2B5EF4-FFF2-40B4-BE49-F238E27FC236}">
                <a16:creationId xmlns:a16="http://schemas.microsoft.com/office/drawing/2014/main" id="{A37AD820-103C-AB4B-241B-F3C1647EAA73}"/>
              </a:ext>
            </a:extLst>
          </p:cNvPr>
          <p:cNvPicPr>
            <a:picLocks noChangeAspect="1"/>
          </p:cNvPicPr>
          <p:nvPr/>
        </p:nvPicPr>
        <p:blipFill>
          <a:blip r:embed="rId3"/>
          <a:stretch>
            <a:fillRect/>
          </a:stretch>
        </p:blipFill>
        <p:spPr>
          <a:xfrm>
            <a:off x="3724549" y="1760255"/>
            <a:ext cx="5172710" cy="1924050"/>
          </a:xfrm>
          <a:prstGeom prst="rect">
            <a:avLst/>
          </a:prstGeom>
        </p:spPr>
      </p:pic>
      <p:pic>
        <p:nvPicPr>
          <p:cNvPr id="5" name="Imagen 4">
            <a:extLst>
              <a:ext uri="{FF2B5EF4-FFF2-40B4-BE49-F238E27FC236}">
                <a16:creationId xmlns:a16="http://schemas.microsoft.com/office/drawing/2014/main" id="{DB34CFD0-875C-188C-D98C-BEE3C33BF236}"/>
              </a:ext>
            </a:extLst>
          </p:cNvPr>
          <p:cNvPicPr>
            <a:picLocks noChangeAspect="1"/>
          </p:cNvPicPr>
          <p:nvPr/>
        </p:nvPicPr>
        <p:blipFill>
          <a:blip r:embed="rId4"/>
          <a:stretch>
            <a:fillRect/>
          </a:stretch>
        </p:blipFill>
        <p:spPr>
          <a:xfrm>
            <a:off x="3724549" y="4092359"/>
            <a:ext cx="5400040" cy="1085215"/>
          </a:xfrm>
          <a:prstGeom prst="rect">
            <a:avLst/>
          </a:prstGeom>
        </p:spPr>
      </p:pic>
    </p:spTree>
    <p:extLst>
      <p:ext uri="{BB962C8B-B14F-4D97-AF65-F5344CB8AC3E}">
        <p14:creationId xmlns:p14="http://schemas.microsoft.com/office/powerpoint/2010/main" val="2732519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303390-2115-5FCF-D273-60075D577EC5}"/>
              </a:ext>
            </a:extLst>
          </p:cNvPr>
          <p:cNvSpPr>
            <a:spLocks noGrp="1"/>
          </p:cNvSpPr>
          <p:nvPr>
            <p:ph type="title"/>
          </p:nvPr>
        </p:nvSpPr>
        <p:spPr/>
        <p:txBody>
          <a:bodyPr>
            <a:normAutofit fontScale="90000"/>
          </a:bodyPr>
          <a:lstStyle/>
          <a:p>
            <a:r>
              <a:rPr lang="es-PE" dirty="0"/>
              <a:t>Ejemplo de consultas realizadas en la base de datos</a:t>
            </a:r>
          </a:p>
        </p:txBody>
      </p:sp>
      <p:sp>
        <p:nvSpPr>
          <p:cNvPr id="3" name="Marcador de texto 2">
            <a:extLst>
              <a:ext uri="{FF2B5EF4-FFF2-40B4-BE49-F238E27FC236}">
                <a16:creationId xmlns:a16="http://schemas.microsoft.com/office/drawing/2014/main" id="{41B6E8A9-AC78-69E3-F7EF-EBA8CD86C3DB}"/>
              </a:ext>
            </a:extLst>
          </p:cNvPr>
          <p:cNvSpPr>
            <a:spLocks noGrp="1"/>
          </p:cNvSpPr>
          <p:nvPr>
            <p:ph type="body" idx="1"/>
          </p:nvPr>
        </p:nvSpPr>
        <p:spPr>
          <a:xfrm>
            <a:off x="704087" y="2085150"/>
            <a:ext cx="5212080" cy="657225"/>
          </a:xfrm>
        </p:spPr>
        <p:txBody>
          <a:bodyPr/>
          <a:lstStyle/>
          <a:p>
            <a:r>
              <a:rPr lang="es-PE" dirty="0"/>
              <a:t>Consultas</a:t>
            </a:r>
          </a:p>
        </p:txBody>
      </p:sp>
      <p:sp>
        <p:nvSpPr>
          <p:cNvPr id="5" name="Marcador de texto 4">
            <a:extLst>
              <a:ext uri="{FF2B5EF4-FFF2-40B4-BE49-F238E27FC236}">
                <a16:creationId xmlns:a16="http://schemas.microsoft.com/office/drawing/2014/main" id="{0FA94A5A-0448-A170-98B5-293618846FA5}"/>
              </a:ext>
            </a:extLst>
          </p:cNvPr>
          <p:cNvSpPr>
            <a:spLocks noGrp="1"/>
          </p:cNvSpPr>
          <p:nvPr>
            <p:ph type="body" sz="quarter" idx="3"/>
          </p:nvPr>
        </p:nvSpPr>
        <p:spPr>
          <a:xfrm>
            <a:off x="6181343" y="2085150"/>
            <a:ext cx="5212080" cy="657225"/>
          </a:xfrm>
        </p:spPr>
        <p:txBody>
          <a:bodyPr/>
          <a:lstStyle/>
          <a:p>
            <a:r>
              <a:rPr lang="es-PE" dirty="0"/>
              <a:t>Subconsultas</a:t>
            </a:r>
          </a:p>
        </p:txBody>
      </p:sp>
      <p:pic>
        <p:nvPicPr>
          <p:cNvPr id="7" name="Picture 1">
            <a:extLst>
              <a:ext uri="{FF2B5EF4-FFF2-40B4-BE49-F238E27FC236}">
                <a16:creationId xmlns:a16="http://schemas.microsoft.com/office/drawing/2014/main" id="{0A64C625-E77C-8CA4-A64B-96A4D0975278}"/>
              </a:ext>
            </a:extLst>
          </p:cNvPr>
          <p:cNvPicPr>
            <a:picLocks noGrp="1" noChangeAspect="1"/>
          </p:cNvPicPr>
          <p:nvPr>
            <p:ph sz="half" idx="2"/>
          </p:nvPr>
        </p:nvPicPr>
        <p:blipFill>
          <a:blip r:embed="rId2"/>
          <a:stretch>
            <a:fillRect/>
          </a:stretch>
        </p:blipFill>
        <p:spPr>
          <a:xfrm>
            <a:off x="704087" y="2758144"/>
            <a:ext cx="5211763" cy="1357482"/>
          </a:xfrm>
          <a:prstGeom prst="rect">
            <a:avLst/>
          </a:prstGeom>
        </p:spPr>
      </p:pic>
      <p:pic>
        <p:nvPicPr>
          <p:cNvPr id="9" name="Picture 1">
            <a:extLst>
              <a:ext uri="{FF2B5EF4-FFF2-40B4-BE49-F238E27FC236}">
                <a16:creationId xmlns:a16="http://schemas.microsoft.com/office/drawing/2014/main" id="{66E86224-1673-BBBC-B09E-E9538AB8200E}"/>
              </a:ext>
            </a:extLst>
          </p:cNvPr>
          <p:cNvPicPr>
            <a:picLocks noChangeAspect="1"/>
          </p:cNvPicPr>
          <p:nvPr/>
        </p:nvPicPr>
        <p:blipFill>
          <a:blip r:embed="rId3"/>
          <a:stretch>
            <a:fillRect/>
          </a:stretch>
        </p:blipFill>
        <p:spPr>
          <a:xfrm>
            <a:off x="704087" y="4235988"/>
            <a:ext cx="4467225" cy="609600"/>
          </a:xfrm>
          <a:prstGeom prst="rect">
            <a:avLst/>
          </a:prstGeom>
        </p:spPr>
      </p:pic>
      <p:pic>
        <p:nvPicPr>
          <p:cNvPr id="11" name="Picture 1">
            <a:extLst>
              <a:ext uri="{FF2B5EF4-FFF2-40B4-BE49-F238E27FC236}">
                <a16:creationId xmlns:a16="http://schemas.microsoft.com/office/drawing/2014/main" id="{694BFC44-4C9E-D9B8-0259-A10E9E7EEEE6}"/>
              </a:ext>
            </a:extLst>
          </p:cNvPr>
          <p:cNvPicPr>
            <a:picLocks noChangeAspect="1"/>
          </p:cNvPicPr>
          <p:nvPr/>
        </p:nvPicPr>
        <p:blipFill>
          <a:blip r:embed="rId4"/>
          <a:stretch>
            <a:fillRect/>
          </a:stretch>
        </p:blipFill>
        <p:spPr>
          <a:xfrm>
            <a:off x="6181343" y="2781474"/>
            <a:ext cx="5400040" cy="636905"/>
          </a:xfrm>
          <a:prstGeom prst="rect">
            <a:avLst/>
          </a:prstGeom>
        </p:spPr>
      </p:pic>
      <p:pic>
        <p:nvPicPr>
          <p:cNvPr id="16" name="Imagen 15">
            <a:extLst>
              <a:ext uri="{FF2B5EF4-FFF2-40B4-BE49-F238E27FC236}">
                <a16:creationId xmlns:a16="http://schemas.microsoft.com/office/drawing/2014/main" id="{E6504FCE-9A14-782F-BF23-BB9743DC4930}"/>
              </a:ext>
            </a:extLst>
          </p:cNvPr>
          <p:cNvPicPr>
            <a:picLocks noChangeAspect="1"/>
          </p:cNvPicPr>
          <p:nvPr/>
        </p:nvPicPr>
        <p:blipFill>
          <a:blip r:embed="rId5"/>
          <a:stretch>
            <a:fillRect/>
          </a:stretch>
        </p:blipFill>
        <p:spPr>
          <a:xfrm>
            <a:off x="6181343" y="3796251"/>
            <a:ext cx="5211763" cy="744537"/>
          </a:xfrm>
          <a:prstGeom prst="rect">
            <a:avLst/>
          </a:prstGeom>
        </p:spPr>
      </p:pic>
    </p:spTree>
    <p:extLst>
      <p:ext uri="{BB962C8B-B14F-4D97-AF65-F5344CB8AC3E}">
        <p14:creationId xmlns:p14="http://schemas.microsoft.com/office/powerpoint/2010/main" val="1405469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D1D686-DE3B-BDD8-78AF-BFAC171F35D5}"/>
              </a:ext>
            </a:extLst>
          </p:cNvPr>
          <p:cNvSpPr>
            <a:spLocks noGrp="1"/>
          </p:cNvSpPr>
          <p:nvPr>
            <p:ph type="title"/>
          </p:nvPr>
        </p:nvSpPr>
        <p:spPr/>
        <p:txBody>
          <a:bodyPr/>
          <a:lstStyle/>
          <a:p>
            <a:pPr algn="ctr"/>
            <a:r>
              <a:rPr lang="es-PE" dirty="0" err="1"/>
              <a:t>Inner</a:t>
            </a:r>
            <a:r>
              <a:rPr lang="es-PE" dirty="0"/>
              <a:t> </a:t>
            </a:r>
            <a:r>
              <a:rPr lang="es-PE" dirty="0" err="1"/>
              <a:t>Join</a:t>
            </a:r>
            <a:endParaRPr lang="es-PE" dirty="0"/>
          </a:p>
        </p:txBody>
      </p:sp>
      <p:pic>
        <p:nvPicPr>
          <p:cNvPr id="12" name="Picture 1">
            <a:extLst>
              <a:ext uri="{FF2B5EF4-FFF2-40B4-BE49-F238E27FC236}">
                <a16:creationId xmlns:a16="http://schemas.microsoft.com/office/drawing/2014/main" id="{8A0D84BE-03B9-B21F-0C1F-DCFC9734E8D2}"/>
              </a:ext>
            </a:extLst>
          </p:cNvPr>
          <p:cNvPicPr>
            <a:picLocks noGrp="1" noChangeAspect="1"/>
          </p:cNvPicPr>
          <p:nvPr>
            <p:ph idx="1"/>
          </p:nvPr>
        </p:nvPicPr>
        <p:blipFill>
          <a:blip r:embed="rId2"/>
          <a:stretch>
            <a:fillRect/>
          </a:stretch>
        </p:blipFill>
        <p:spPr>
          <a:xfrm>
            <a:off x="966258" y="1487241"/>
            <a:ext cx="2716005" cy="3883518"/>
          </a:xfrm>
          <a:prstGeom prst="rect">
            <a:avLst/>
          </a:prstGeom>
        </p:spPr>
      </p:pic>
      <p:sp>
        <p:nvSpPr>
          <p:cNvPr id="5" name="CuadroTexto 4">
            <a:extLst>
              <a:ext uri="{FF2B5EF4-FFF2-40B4-BE49-F238E27FC236}">
                <a16:creationId xmlns:a16="http://schemas.microsoft.com/office/drawing/2014/main" id="{B50F600F-3093-DF40-7C3F-EF39D70C4E51}"/>
              </a:ext>
            </a:extLst>
          </p:cNvPr>
          <p:cNvSpPr txBox="1"/>
          <p:nvPr/>
        </p:nvSpPr>
        <p:spPr>
          <a:xfrm>
            <a:off x="3947886" y="1923840"/>
            <a:ext cx="7286753" cy="1200329"/>
          </a:xfrm>
          <a:prstGeom prst="rect">
            <a:avLst/>
          </a:prstGeom>
          <a:noFill/>
        </p:spPr>
        <p:txBody>
          <a:bodyPr wrap="square" rtlCol="0">
            <a:spAutoFit/>
          </a:bodyPr>
          <a:lstStyle/>
          <a:p>
            <a:r>
              <a:rPr lang="es-PE" dirty="0"/>
              <a:t>En nuestro caso, el uso del </a:t>
            </a:r>
            <a:r>
              <a:rPr lang="es-PE" dirty="0" err="1"/>
              <a:t>inner</a:t>
            </a:r>
            <a:r>
              <a:rPr lang="es-PE" dirty="0"/>
              <a:t> </a:t>
            </a:r>
            <a:r>
              <a:rPr lang="es-PE" dirty="0" err="1"/>
              <a:t>join</a:t>
            </a:r>
            <a:r>
              <a:rPr lang="es-PE" dirty="0"/>
              <a:t> fue ejecutado con el propósito de poder verificar la conexión entre todas las tablas principales, lanzándonos los datos que se usan como referencia en cada una de las tablas mediante las llaves foráneas, esto nos generara la siguiente tabla: </a:t>
            </a:r>
          </a:p>
        </p:txBody>
      </p:sp>
      <p:pic>
        <p:nvPicPr>
          <p:cNvPr id="7" name="Imagen 6">
            <a:extLst>
              <a:ext uri="{FF2B5EF4-FFF2-40B4-BE49-F238E27FC236}">
                <a16:creationId xmlns:a16="http://schemas.microsoft.com/office/drawing/2014/main" id="{32CC93F5-7D5F-12F3-40EB-CCB0FFF3C2D8}"/>
              </a:ext>
            </a:extLst>
          </p:cNvPr>
          <p:cNvPicPr>
            <a:picLocks noChangeAspect="1"/>
          </p:cNvPicPr>
          <p:nvPr/>
        </p:nvPicPr>
        <p:blipFill>
          <a:blip r:embed="rId3"/>
          <a:stretch>
            <a:fillRect/>
          </a:stretch>
        </p:blipFill>
        <p:spPr>
          <a:xfrm>
            <a:off x="4161783" y="3429000"/>
            <a:ext cx="6858957" cy="1552792"/>
          </a:xfrm>
          <a:prstGeom prst="rect">
            <a:avLst/>
          </a:prstGeom>
        </p:spPr>
      </p:pic>
    </p:spTree>
    <p:extLst>
      <p:ext uri="{BB962C8B-B14F-4D97-AF65-F5344CB8AC3E}">
        <p14:creationId xmlns:p14="http://schemas.microsoft.com/office/powerpoint/2010/main" val="2457799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75000"/>
              </a:schemeClr>
            </a:gs>
            <a:gs pos="74000">
              <a:schemeClr val="accent1">
                <a:lumMod val="45000"/>
                <a:lumOff val="55000"/>
              </a:schemeClr>
            </a:gs>
            <a:gs pos="83000">
              <a:schemeClr val="accent1">
                <a:lumMod val="45000"/>
                <a:lumOff val="55000"/>
              </a:schemeClr>
            </a:gs>
            <a:gs pos="100000">
              <a:schemeClr val="tx1">
                <a:lumMod val="95000"/>
                <a:lumOff val="5000"/>
              </a:schemeClr>
            </a:gs>
          </a:gsLst>
          <a:lin ang="5400000" scaled="1"/>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A47400-3800-4BAA-8D27-F84FF8B5EF35}"/>
              </a:ext>
            </a:extLst>
          </p:cNvPr>
          <p:cNvSpPr>
            <a:spLocks noGrp="1"/>
          </p:cNvSpPr>
          <p:nvPr>
            <p:ph type="title"/>
          </p:nvPr>
        </p:nvSpPr>
        <p:spPr/>
        <p:txBody>
          <a:bodyPr/>
          <a:lstStyle/>
          <a:p>
            <a:r>
              <a:rPr lang="es-PE" dirty="0"/>
              <a:t>Resultados</a:t>
            </a:r>
          </a:p>
        </p:txBody>
      </p:sp>
      <p:sp>
        <p:nvSpPr>
          <p:cNvPr id="3" name="Marcador de texto 2">
            <a:extLst>
              <a:ext uri="{FF2B5EF4-FFF2-40B4-BE49-F238E27FC236}">
                <a16:creationId xmlns:a16="http://schemas.microsoft.com/office/drawing/2014/main" id="{CB1C210D-C1E7-5336-0987-0108C302A9CE}"/>
              </a:ext>
            </a:extLst>
          </p:cNvPr>
          <p:cNvSpPr>
            <a:spLocks noGrp="1"/>
          </p:cNvSpPr>
          <p:nvPr>
            <p:ph type="body" idx="1"/>
          </p:nvPr>
        </p:nvSpPr>
        <p:spPr>
          <a:xfrm>
            <a:off x="704088" y="1756538"/>
            <a:ext cx="5212080" cy="323107"/>
          </a:xfrm>
        </p:spPr>
        <p:txBody>
          <a:bodyPr>
            <a:normAutofit fontScale="92500" lnSpcReduction="10000"/>
          </a:bodyPr>
          <a:lstStyle/>
          <a:p>
            <a:pPr algn="ctr"/>
            <a:r>
              <a:rPr lang="es-PE" dirty="0"/>
              <a:t>Consultas</a:t>
            </a:r>
          </a:p>
        </p:txBody>
      </p:sp>
      <p:sp>
        <p:nvSpPr>
          <p:cNvPr id="5" name="Marcador de texto 4">
            <a:extLst>
              <a:ext uri="{FF2B5EF4-FFF2-40B4-BE49-F238E27FC236}">
                <a16:creationId xmlns:a16="http://schemas.microsoft.com/office/drawing/2014/main" id="{9C594D54-E251-F333-360C-62498F2357FF}"/>
              </a:ext>
            </a:extLst>
          </p:cNvPr>
          <p:cNvSpPr>
            <a:spLocks noGrp="1"/>
          </p:cNvSpPr>
          <p:nvPr>
            <p:ph type="body" sz="quarter" idx="3"/>
          </p:nvPr>
        </p:nvSpPr>
        <p:spPr>
          <a:xfrm>
            <a:off x="6181344" y="1756538"/>
            <a:ext cx="5212080" cy="323107"/>
          </a:xfrm>
        </p:spPr>
        <p:txBody>
          <a:bodyPr>
            <a:normAutofit fontScale="92500" lnSpcReduction="10000"/>
          </a:bodyPr>
          <a:lstStyle/>
          <a:p>
            <a:pPr algn="ctr"/>
            <a:r>
              <a:rPr lang="es-PE" dirty="0"/>
              <a:t>Subconsultas</a:t>
            </a:r>
          </a:p>
        </p:txBody>
      </p:sp>
      <p:pic>
        <p:nvPicPr>
          <p:cNvPr id="8" name="Marcador de contenido 7">
            <a:extLst>
              <a:ext uri="{FF2B5EF4-FFF2-40B4-BE49-F238E27FC236}">
                <a16:creationId xmlns:a16="http://schemas.microsoft.com/office/drawing/2014/main" id="{608DF2B1-09E4-751B-84B2-66F9CCE989AF}"/>
              </a:ext>
            </a:extLst>
          </p:cNvPr>
          <p:cNvPicPr>
            <a:picLocks noGrp="1" noChangeAspect="1"/>
          </p:cNvPicPr>
          <p:nvPr>
            <p:ph sz="quarter" idx="4"/>
          </p:nvPr>
        </p:nvPicPr>
        <p:blipFill>
          <a:blip r:embed="rId2"/>
          <a:stretch>
            <a:fillRect/>
          </a:stretch>
        </p:blipFill>
        <p:spPr>
          <a:xfrm>
            <a:off x="6181660" y="2249852"/>
            <a:ext cx="5211763" cy="595170"/>
          </a:xfrm>
          <a:prstGeom prst="rect">
            <a:avLst/>
          </a:prstGeom>
        </p:spPr>
      </p:pic>
      <p:pic>
        <p:nvPicPr>
          <p:cNvPr id="10" name="Imagen 9">
            <a:extLst>
              <a:ext uri="{FF2B5EF4-FFF2-40B4-BE49-F238E27FC236}">
                <a16:creationId xmlns:a16="http://schemas.microsoft.com/office/drawing/2014/main" id="{003079CE-3414-5D9B-21F6-0B262567CAE7}"/>
              </a:ext>
            </a:extLst>
          </p:cNvPr>
          <p:cNvPicPr>
            <a:picLocks noChangeAspect="1"/>
          </p:cNvPicPr>
          <p:nvPr/>
        </p:nvPicPr>
        <p:blipFill>
          <a:blip r:embed="rId3"/>
          <a:stretch>
            <a:fillRect/>
          </a:stretch>
        </p:blipFill>
        <p:spPr>
          <a:xfrm>
            <a:off x="7106558" y="3067424"/>
            <a:ext cx="3361652" cy="2134082"/>
          </a:xfrm>
          <a:prstGeom prst="rect">
            <a:avLst/>
          </a:prstGeom>
        </p:spPr>
      </p:pic>
      <p:pic>
        <p:nvPicPr>
          <p:cNvPr id="11" name="Picture 1">
            <a:extLst>
              <a:ext uri="{FF2B5EF4-FFF2-40B4-BE49-F238E27FC236}">
                <a16:creationId xmlns:a16="http://schemas.microsoft.com/office/drawing/2014/main" id="{6FDED78D-BB1F-37C8-FFAE-60A2DFDBDDCB}"/>
              </a:ext>
            </a:extLst>
          </p:cNvPr>
          <p:cNvPicPr>
            <a:picLocks noGrp="1" noChangeAspect="1"/>
          </p:cNvPicPr>
          <p:nvPr>
            <p:ph sz="half" idx="2"/>
          </p:nvPr>
        </p:nvPicPr>
        <p:blipFill>
          <a:blip r:embed="rId4"/>
          <a:stretch>
            <a:fillRect/>
          </a:stretch>
        </p:blipFill>
        <p:spPr>
          <a:xfrm>
            <a:off x="704087" y="2170203"/>
            <a:ext cx="5211763" cy="2234461"/>
          </a:xfrm>
          <a:prstGeom prst="rect">
            <a:avLst/>
          </a:prstGeom>
        </p:spPr>
      </p:pic>
      <p:pic>
        <p:nvPicPr>
          <p:cNvPr id="12" name="Picture 1">
            <a:extLst>
              <a:ext uri="{FF2B5EF4-FFF2-40B4-BE49-F238E27FC236}">
                <a16:creationId xmlns:a16="http://schemas.microsoft.com/office/drawing/2014/main" id="{89427B73-1378-3C9D-D9FA-EF3D425DBC1C}"/>
              </a:ext>
            </a:extLst>
          </p:cNvPr>
          <p:cNvPicPr>
            <a:picLocks noChangeAspect="1"/>
          </p:cNvPicPr>
          <p:nvPr/>
        </p:nvPicPr>
        <p:blipFill>
          <a:blip r:embed="rId5"/>
          <a:stretch>
            <a:fillRect/>
          </a:stretch>
        </p:blipFill>
        <p:spPr>
          <a:xfrm>
            <a:off x="516128" y="4557616"/>
            <a:ext cx="5400040" cy="1287780"/>
          </a:xfrm>
          <a:prstGeom prst="rect">
            <a:avLst/>
          </a:prstGeom>
        </p:spPr>
      </p:pic>
    </p:spTree>
    <p:extLst>
      <p:ext uri="{BB962C8B-B14F-4D97-AF65-F5344CB8AC3E}">
        <p14:creationId xmlns:p14="http://schemas.microsoft.com/office/powerpoint/2010/main" val="1579303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bg2">
                <a:lumMod val="75000"/>
              </a:schemeClr>
            </a:gs>
            <a:gs pos="74000">
              <a:schemeClr val="accent1">
                <a:lumMod val="45000"/>
                <a:lumOff val="55000"/>
              </a:schemeClr>
            </a:gs>
            <a:gs pos="83000">
              <a:schemeClr val="accent1">
                <a:lumMod val="45000"/>
                <a:lumOff val="55000"/>
              </a:schemeClr>
            </a:gs>
            <a:gs pos="100000">
              <a:schemeClr val="tx1">
                <a:lumMod val="95000"/>
                <a:lumOff val="5000"/>
              </a:schemeClr>
            </a:gs>
          </a:gsLst>
          <a:lin ang="5400000" scaled="1"/>
        </a:gra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B7D862-EAF8-F198-8DD4-1A675A260A63}"/>
              </a:ext>
            </a:extLst>
          </p:cNvPr>
          <p:cNvSpPr>
            <a:spLocks noGrp="1"/>
          </p:cNvSpPr>
          <p:nvPr>
            <p:ph type="title"/>
          </p:nvPr>
        </p:nvSpPr>
        <p:spPr/>
        <p:txBody>
          <a:bodyPr/>
          <a:lstStyle/>
          <a:p>
            <a:r>
              <a:rPr lang="es-PE" dirty="0"/>
              <a:t>Conclusión</a:t>
            </a:r>
          </a:p>
        </p:txBody>
      </p:sp>
      <p:sp>
        <p:nvSpPr>
          <p:cNvPr id="3" name="Marcador de contenido 2">
            <a:extLst>
              <a:ext uri="{FF2B5EF4-FFF2-40B4-BE49-F238E27FC236}">
                <a16:creationId xmlns:a16="http://schemas.microsoft.com/office/drawing/2014/main" id="{AC7AE123-5158-4812-377F-CC70A2E83808}"/>
              </a:ext>
            </a:extLst>
          </p:cNvPr>
          <p:cNvSpPr>
            <a:spLocks noGrp="1"/>
          </p:cNvSpPr>
          <p:nvPr>
            <p:ph idx="1"/>
          </p:nvPr>
        </p:nvSpPr>
        <p:spPr/>
        <p:txBody>
          <a:bodyPr/>
          <a:lstStyle/>
          <a:p>
            <a:pPr marL="0" indent="0" algn="ctr">
              <a:buNone/>
            </a:pPr>
            <a:r>
              <a:rPr lang="es-PE" dirty="0"/>
              <a:t>Como hemos visto, no solo hemos sido capaces de solucionar el problema respecto a la extracción y registro de los comentarios de los clientes de la empresa, sino que también, les hemos podido brindar una base de datos capaz de mantener una organización mas categórica, una organización la cual, además, puede adaptarse a una banda ancha de datos a futuro, y no solo esto, sino que también hemos logrado brindar una visión mas precisa y realista a la empresa de forma global sobre su negocio sin afectar el comprendimiento del sistema para los empleados, comprobando así que el uso de base de datos en empresas puede resolver mas de un solo problema, pudiendo adaptarse a muchas situaciones y especialmente </a:t>
            </a:r>
            <a:r>
              <a:rPr lang="es-PE"/>
              <a:t>la infraestructura </a:t>
            </a:r>
            <a:r>
              <a:rPr lang="es-PE" dirty="0"/>
              <a:t>tal y como a la que nos afrontamos.</a:t>
            </a:r>
          </a:p>
        </p:txBody>
      </p:sp>
    </p:spTree>
    <p:extLst>
      <p:ext uri="{BB962C8B-B14F-4D97-AF65-F5344CB8AC3E}">
        <p14:creationId xmlns:p14="http://schemas.microsoft.com/office/powerpoint/2010/main" val="60824679"/>
      </p:ext>
    </p:extLst>
  </p:cSld>
  <p:clrMapOvr>
    <a:masterClrMapping/>
  </p:clrMapOvr>
</p:sld>
</file>

<file path=ppt/theme/theme1.xml><?xml version="1.0" encoding="utf-8"?>
<a:theme xmlns:a="http://schemas.openxmlformats.org/drawingml/2006/main" name="ChronicleVTI">
  <a:themeElements>
    <a:clrScheme name="Papel">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TM04033929[[fn=Pizarra]]</Template>
  <TotalTime>168</TotalTime>
  <Words>685</Words>
  <Application>Microsoft Office PowerPoint</Application>
  <PresentationFormat>Panorámica</PresentationFormat>
  <Paragraphs>30</Paragraphs>
  <Slides>13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Calisto MT</vt:lpstr>
      <vt:lpstr>Univers Condensed</vt:lpstr>
      <vt:lpstr>ChronicleVTI</vt:lpstr>
      <vt:lpstr>Caso de la empresa Camposol</vt:lpstr>
      <vt:lpstr>Problemática</vt:lpstr>
      <vt:lpstr>Análisis del problema</vt:lpstr>
      <vt:lpstr>Presentación de PowerPoint</vt:lpstr>
      <vt:lpstr>Presentación de PowerPoint</vt:lpstr>
      <vt:lpstr>Solución</vt:lpstr>
      <vt:lpstr>Estructura de la base de datos</vt:lpstr>
      <vt:lpstr>Datos dentro de las tablas</vt:lpstr>
      <vt:lpstr>Datos dentro de las tablas</vt:lpstr>
      <vt:lpstr>Ejemplo de consultas realizadas en la base de datos</vt:lpstr>
      <vt:lpstr>Inner Join</vt:lpstr>
      <vt:lpstr>Resultados</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Enzo Renaud Cárdenas Muñoz</dc:creator>
  <cp:lastModifiedBy>Enzo Renaud Cárdenas Muñoz</cp:lastModifiedBy>
  <cp:revision>3</cp:revision>
  <dcterms:created xsi:type="dcterms:W3CDTF">2026-06-24T20:24:12Z</dcterms:created>
  <dcterms:modified xsi:type="dcterms:W3CDTF">2026-06-25T02:45:34Z</dcterms:modified>
</cp:coreProperties>
</file>