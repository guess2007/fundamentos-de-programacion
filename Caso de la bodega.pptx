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1" r:id="rId6"/>
    <p:sldId id="274" r:id="rId7"/>
    <p:sldId id="262" r:id="rId8"/>
    <p:sldId id="264" r:id="rId9"/>
    <p:sldId id="275" r:id="rId10"/>
    <p:sldId id="270" r:id="rId11"/>
    <p:sldId id="267" r:id="rId12"/>
    <p:sldId id="268" r:id="rId13"/>
    <p:sldId id="271" r:id="rId14"/>
    <p:sldId id="272" r:id="rId15"/>
    <p:sldId id="273" r:id="rId16"/>
    <p:sldId id="269" r:id="rId1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379" autoAdjust="0"/>
  </p:normalViewPr>
  <p:slideViewPr>
    <p:cSldViewPr snapToGrid="0">
      <p:cViewPr>
        <p:scale>
          <a:sx n="66" d="100"/>
          <a:sy n="66" d="100"/>
        </p:scale>
        <p:origin x="9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C620-6A3E-9B32-8790-3D22854982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PE"/>
          </a:p>
        </p:txBody>
      </p:sp>
      <p:sp>
        <p:nvSpPr>
          <p:cNvPr id="3" name="Subtitle 2">
            <a:extLst>
              <a:ext uri="{FF2B5EF4-FFF2-40B4-BE49-F238E27FC236}">
                <a16:creationId xmlns:a16="http://schemas.microsoft.com/office/drawing/2014/main" id="{213AEA98-C7A6-DDF2-E8F2-1FD3B006E3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PE"/>
          </a:p>
        </p:txBody>
      </p:sp>
      <p:sp>
        <p:nvSpPr>
          <p:cNvPr id="4" name="Date Placeholder 3">
            <a:extLst>
              <a:ext uri="{FF2B5EF4-FFF2-40B4-BE49-F238E27FC236}">
                <a16:creationId xmlns:a16="http://schemas.microsoft.com/office/drawing/2014/main" id="{C967F6C3-D93C-B171-BAFA-C54F0AF49B7E}"/>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9885BD1C-5ED3-069D-1834-A5DBFF6FDCA4}"/>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4B8DB9B0-B605-AA85-F388-E1D7C8E6500D}"/>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395315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905F-5368-15CD-A379-FB9EFB468BF3}"/>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79C498C5-1931-8FA7-1AA6-1C560F595E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D204F279-9030-2D22-4537-9EB39382E4CE}"/>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FA6E27FA-09B6-7841-BADA-8B7DEBB605BF}"/>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59C6A7AC-B05C-F225-C82E-41F4DAE289A9}"/>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698651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F3C31-3833-F3BF-1F9F-3C23273FA7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PE"/>
          </a:p>
        </p:txBody>
      </p:sp>
      <p:sp>
        <p:nvSpPr>
          <p:cNvPr id="3" name="Text Placeholder 2">
            <a:extLst>
              <a:ext uri="{FF2B5EF4-FFF2-40B4-BE49-F238E27FC236}">
                <a16:creationId xmlns:a16="http://schemas.microsoft.com/office/drawing/2014/main" id="{5F020C32-3C85-6319-5C23-1E37B192D6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0D729A-D1E0-064A-78FE-C6C8F2E6F913}"/>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48389026-A2C4-F691-CA52-BA36C6DFB7D5}"/>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EC8F4330-3D29-7092-33FC-9680FCC73EDB}"/>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2728508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5EAB-1D4C-F957-36DB-5F11199A9450}"/>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0A8E07AF-B653-F21B-B2FA-DA4704EFD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Content Placeholder 3">
            <a:extLst>
              <a:ext uri="{FF2B5EF4-FFF2-40B4-BE49-F238E27FC236}">
                <a16:creationId xmlns:a16="http://schemas.microsoft.com/office/drawing/2014/main" id="{A786EDC8-969B-5ADF-80FD-7BBDD1408B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Date Placeholder 4">
            <a:extLst>
              <a:ext uri="{FF2B5EF4-FFF2-40B4-BE49-F238E27FC236}">
                <a16:creationId xmlns:a16="http://schemas.microsoft.com/office/drawing/2014/main" id="{7695DB63-BC12-39B3-8F89-68F52259DB25}"/>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6" name="Footer Placeholder 5">
            <a:extLst>
              <a:ext uri="{FF2B5EF4-FFF2-40B4-BE49-F238E27FC236}">
                <a16:creationId xmlns:a16="http://schemas.microsoft.com/office/drawing/2014/main" id="{34ECE6BF-F63A-356B-06FD-9E985AB40EC0}"/>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0B527F5B-2ACF-4543-A472-AFD8692AB928}"/>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1770740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8BBB-CD36-8790-87E9-54D3B621F0D2}"/>
              </a:ext>
            </a:extLst>
          </p:cNvPr>
          <p:cNvSpPr>
            <a:spLocks noGrp="1"/>
          </p:cNvSpPr>
          <p:nvPr>
            <p:ph type="title"/>
          </p:nvPr>
        </p:nvSpPr>
        <p:spPr>
          <a:xfrm>
            <a:off x="839788" y="365125"/>
            <a:ext cx="10515600" cy="1325563"/>
          </a:xfrm>
        </p:spPr>
        <p:txBody>
          <a:bodyPr/>
          <a:lstStyle/>
          <a:p>
            <a:r>
              <a:rPr lang="en-US"/>
              <a:t>Click to edit Master title style</a:t>
            </a:r>
            <a:endParaRPr lang="es-PE"/>
          </a:p>
        </p:txBody>
      </p:sp>
      <p:sp>
        <p:nvSpPr>
          <p:cNvPr id="3" name="Text Placeholder 2">
            <a:extLst>
              <a:ext uri="{FF2B5EF4-FFF2-40B4-BE49-F238E27FC236}">
                <a16:creationId xmlns:a16="http://schemas.microsoft.com/office/drawing/2014/main" id="{05813BE7-4721-0700-8052-E4D180F424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8E125F-A2C2-9028-8C4A-E0BDBDBC16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Text Placeholder 4">
            <a:extLst>
              <a:ext uri="{FF2B5EF4-FFF2-40B4-BE49-F238E27FC236}">
                <a16:creationId xmlns:a16="http://schemas.microsoft.com/office/drawing/2014/main" id="{FAB7C0B1-BCFD-0959-7940-5178A1B315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65895F-1262-93E0-2CDD-AB33A1C2C6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7" name="Date Placeholder 6">
            <a:extLst>
              <a:ext uri="{FF2B5EF4-FFF2-40B4-BE49-F238E27FC236}">
                <a16:creationId xmlns:a16="http://schemas.microsoft.com/office/drawing/2014/main" id="{9872803B-0C8E-A4F8-AB2C-1B5716C24B70}"/>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8" name="Footer Placeholder 7">
            <a:extLst>
              <a:ext uri="{FF2B5EF4-FFF2-40B4-BE49-F238E27FC236}">
                <a16:creationId xmlns:a16="http://schemas.microsoft.com/office/drawing/2014/main" id="{5075D709-6CD4-D11D-3A7D-2DEB7F44BC8E}"/>
              </a:ext>
            </a:extLst>
          </p:cNvPr>
          <p:cNvSpPr>
            <a:spLocks noGrp="1"/>
          </p:cNvSpPr>
          <p:nvPr>
            <p:ph type="ftr" sz="quarter" idx="11"/>
          </p:nvPr>
        </p:nvSpPr>
        <p:spPr/>
        <p:txBody>
          <a:bodyPr/>
          <a:lstStyle/>
          <a:p>
            <a:endParaRPr lang="es-PE"/>
          </a:p>
        </p:txBody>
      </p:sp>
      <p:sp>
        <p:nvSpPr>
          <p:cNvPr id="9" name="Slide Number Placeholder 8">
            <a:extLst>
              <a:ext uri="{FF2B5EF4-FFF2-40B4-BE49-F238E27FC236}">
                <a16:creationId xmlns:a16="http://schemas.microsoft.com/office/drawing/2014/main" id="{07F89EB9-4F3B-A96E-DE85-4D7BF877ABE3}"/>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1864442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8B486-EC49-11CE-FCE6-C1E6E821B884}"/>
              </a:ext>
            </a:extLst>
          </p:cNvPr>
          <p:cNvSpPr>
            <a:spLocks noGrp="1"/>
          </p:cNvSpPr>
          <p:nvPr>
            <p:ph type="title"/>
          </p:nvPr>
        </p:nvSpPr>
        <p:spPr/>
        <p:txBody>
          <a:bodyPr/>
          <a:lstStyle/>
          <a:p>
            <a:r>
              <a:rPr lang="en-US"/>
              <a:t>Click to edit Master title style</a:t>
            </a:r>
            <a:endParaRPr lang="es-PE"/>
          </a:p>
        </p:txBody>
      </p:sp>
      <p:sp>
        <p:nvSpPr>
          <p:cNvPr id="3" name="Date Placeholder 2">
            <a:extLst>
              <a:ext uri="{FF2B5EF4-FFF2-40B4-BE49-F238E27FC236}">
                <a16:creationId xmlns:a16="http://schemas.microsoft.com/office/drawing/2014/main" id="{145BD114-5123-DFAC-D3AD-3D177B68938B}"/>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4" name="Footer Placeholder 3">
            <a:extLst>
              <a:ext uri="{FF2B5EF4-FFF2-40B4-BE49-F238E27FC236}">
                <a16:creationId xmlns:a16="http://schemas.microsoft.com/office/drawing/2014/main" id="{10ACD0EA-3F98-F069-04DF-633C8EFC2A5A}"/>
              </a:ext>
            </a:extLst>
          </p:cNvPr>
          <p:cNvSpPr>
            <a:spLocks noGrp="1"/>
          </p:cNvSpPr>
          <p:nvPr>
            <p:ph type="ftr" sz="quarter" idx="11"/>
          </p:nvPr>
        </p:nvSpPr>
        <p:spPr/>
        <p:txBody>
          <a:bodyPr/>
          <a:lstStyle/>
          <a:p>
            <a:endParaRPr lang="es-PE"/>
          </a:p>
        </p:txBody>
      </p:sp>
      <p:sp>
        <p:nvSpPr>
          <p:cNvPr id="5" name="Slide Number Placeholder 4">
            <a:extLst>
              <a:ext uri="{FF2B5EF4-FFF2-40B4-BE49-F238E27FC236}">
                <a16:creationId xmlns:a16="http://schemas.microsoft.com/office/drawing/2014/main" id="{16EB37FA-90BB-A434-B7B8-984D23E8447F}"/>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3269058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7C700A-0FFC-7290-DF0F-68C2A525445A}"/>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3" name="Footer Placeholder 2">
            <a:extLst>
              <a:ext uri="{FF2B5EF4-FFF2-40B4-BE49-F238E27FC236}">
                <a16:creationId xmlns:a16="http://schemas.microsoft.com/office/drawing/2014/main" id="{5700DA3C-FF2E-9D6F-19DF-34BADECBE66F}"/>
              </a:ext>
            </a:extLst>
          </p:cNvPr>
          <p:cNvSpPr>
            <a:spLocks noGrp="1"/>
          </p:cNvSpPr>
          <p:nvPr>
            <p:ph type="ftr" sz="quarter" idx="11"/>
          </p:nvPr>
        </p:nvSpPr>
        <p:spPr/>
        <p:txBody>
          <a:bodyPr/>
          <a:lstStyle/>
          <a:p>
            <a:endParaRPr lang="es-PE"/>
          </a:p>
        </p:txBody>
      </p:sp>
      <p:sp>
        <p:nvSpPr>
          <p:cNvPr id="4" name="Slide Number Placeholder 3">
            <a:extLst>
              <a:ext uri="{FF2B5EF4-FFF2-40B4-BE49-F238E27FC236}">
                <a16:creationId xmlns:a16="http://schemas.microsoft.com/office/drawing/2014/main" id="{DFF2C785-4D13-F152-BC28-5814E35EB4EE}"/>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3590356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F850-AB66-DBEB-C546-197864B70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Content Placeholder 2">
            <a:extLst>
              <a:ext uri="{FF2B5EF4-FFF2-40B4-BE49-F238E27FC236}">
                <a16:creationId xmlns:a16="http://schemas.microsoft.com/office/drawing/2014/main" id="{233D78A2-A461-D598-6128-7B8F9C8622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Text Placeholder 3">
            <a:extLst>
              <a:ext uri="{FF2B5EF4-FFF2-40B4-BE49-F238E27FC236}">
                <a16:creationId xmlns:a16="http://schemas.microsoft.com/office/drawing/2014/main" id="{4F3D75AE-495F-5581-0779-123C90B1F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480BE-572F-CAFE-08F7-C78C5432550F}"/>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6" name="Footer Placeholder 5">
            <a:extLst>
              <a:ext uri="{FF2B5EF4-FFF2-40B4-BE49-F238E27FC236}">
                <a16:creationId xmlns:a16="http://schemas.microsoft.com/office/drawing/2014/main" id="{17DCA511-5AAC-B536-9C08-DBDB7AC594A8}"/>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CD9ED392-481F-5327-BACA-E210870B1DC8}"/>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1173399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F14F-DBB7-1208-A0D4-BEA1BE5E88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Picture Placeholder 2">
            <a:extLst>
              <a:ext uri="{FF2B5EF4-FFF2-40B4-BE49-F238E27FC236}">
                <a16:creationId xmlns:a16="http://schemas.microsoft.com/office/drawing/2014/main" id="{4A10BA2C-5468-94B2-6D93-023DD3D6E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Text Placeholder 3">
            <a:extLst>
              <a:ext uri="{FF2B5EF4-FFF2-40B4-BE49-F238E27FC236}">
                <a16:creationId xmlns:a16="http://schemas.microsoft.com/office/drawing/2014/main" id="{08CC1193-CEA8-3030-643A-FE82FE34D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AE2604-3D61-DCD1-7625-DEB88C45A291}"/>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6" name="Footer Placeholder 5">
            <a:extLst>
              <a:ext uri="{FF2B5EF4-FFF2-40B4-BE49-F238E27FC236}">
                <a16:creationId xmlns:a16="http://schemas.microsoft.com/office/drawing/2014/main" id="{CA0FEC35-C927-23BD-21EB-8FE31C7B683C}"/>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FFD6284F-711D-6775-5919-08E36A235605}"/>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1043283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AA59B-B552-1596-57FC-6D881A32F012}"/>
              </a:ext>
            </a:extLst>
          </p:cNvPr>
          <p:cNvSpPr>
            <a:spLocks noGrp="1"/>
          </p:cNvSpPr>
          <p:nvPr>
            <p:ph type="title"/>
          </p:nvPr>
        </p:nvSpPr>
        <p:spPr/>
        <p:txBody>
          <a:bodyPr/>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C9CBEC8F-D813-3AA4-3883-CBAC8BD03D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AC3446B6-D0E0-9F6D-E2C1-A6C5ED3AC32D}"/>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82CF8D7B-1867-17D6-3124-B8442389EEC0}"/>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015BAAA1-AE7C-4E50-9853-BAE6DE23358B}"/>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1999075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B83A6D-8282-D986-362E-7B2239D05D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D15A2513-4CE0-6C16-8C42-9EB27A0732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27793B91-7008-8BEE-CC66-7FE8C33530E0}"/>
              </a:ext>
            </a:extLst>
          </p:cNvPr>
          <p:cNvSpPr>
            <a:spLocks noGrp="1"/>
          </p:cNvSpPr>
          <p:nvPr>
            <p:ph type="dt" sz="half" idx="10"/>
          </p:nvPr>
        </p:nvSpPr>
        <p:spPr/>
        <p:txBody>
          <a:body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5051D141-E458-26CF-D02F-73091EDB2F42}"/>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168441AE-185C-DA4D-9FC2-4B600DB632C5}"/>
              </a:ext>
            </a:extLst>
          </p:cNvPr>
          <p:cNvSpPr>
            <a:spLocks noGrp="1"/>
          </p:cNvSpPr>
          <p:nvPr>
            <p:ph type="sldNum" sz="quarter" idx="12"/>
          </p:nvPr>
        </p:nvSpPr>
        <p:spPr/>
        <p:txBody>
          <a:bodyPr/>
          <a:lstStyle/>
          <a:p>
            <a:fld id="{69DEC336-AAC9-4A61-B504-08D150B1B05B}" type="slidenum">
              <a:rPr lang="es-PE" smtClean="0"/>
              <a:t>‹#›</a:t>
            </a:fld>
            <a:endParaRPr lang="es-PE"/>
          </a:p>
        </p:txBody>
      </p:sp>
    </p:spTree>
    <p:extLst>
      <p:ext uri="{BB962C8B-B14F-4D97-AF65-F5344CB8AC3E}">
        <p14:creationId xmlns:p14="http://schemas.microsoft.com/office/powerpoint/2010/main" val="3551803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0A6E3D-25EB-B050-4F88-3AD51D703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PE"/>
          </a:p>
        </p:txBody>
      </p:sp>
      <p:sp>
        <p:nvSpPr>
          <p:cNvPr id="3" name="Text Placeholder 2">
            <a:extLst>
              <a:ext uri="{FF2B5EF4-FFF2-40B4-BE49-F238E27FC236}">
                <a16:creationId xmlns:a16="http://schemas.microsoft.com/office/drawing/2014/main" id="{81BD0AD4-3608-B7D7-3A0B-A0E00A477D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EBFFFA6D-6C62-14BE-D9AA-56A997157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B4D3E5-F004-4FA3-BAF8-303336792672}" type="datetimeFigureOut">
              <a:rPr lang="es-PE" smtClean="0"/>
              <a:t>2/07/2026</a:t>
            </a:fld>
            <a:endParaRPr lang="es-PE"/>
          </a:p>
        </p:txBody>
      </p:sp>
      <p:sp>
        <p:nvSpPr>
          <p:cNvPr id="5" name="Footer Placeholder 4">
            <a:extLst>
              <a:ext uri="{FF2B5EF4-FFF2-40B4-BE49-F238E27FC236}">
                <a16:creationId xmlns:a16="http://schemas.microsoft.com/office/drawing/2014/main" id="{CFD08DDF-BB3E-6AA3-2937-694C6FD42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Slide Number Placeholder 5">
            <a:extLst>
              <a:ext uri="{FF2B5EF4-FFF2-40B4-BE49-F238E27FC236}">
                <a16:creationId xmlns:a16="http://schemas.microsoft.com/office/drawing/2014/main" id="{AF091D21-68C5-5D32-75C8-3CBF3326AB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DEC336-AAC9-4A61-B504-08D150B1B05B}" type="slidenum">
              <a:rPr lang="es-PE" smtClean="0"/>
              <a:t>‹#›</a:t>
            </a:fld>
            <a:endParaRPr lang="es-PE"/>
          </a:p>
        </p:txBody>
      </p:sp>
    </p:spTree>
    <p:extLst>
      <p:ext uri="{BB962C8B-B14F-4D97-AF65-F5344CB8AC3E}">
        <p14:creationId xmlns:p14="http://schemas.microsoft.com/office/powerpoint/2010/main" val="183482562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3E7F-57DC-89F5-BCC2-B3C3FD2635C6}"/>
              </a:ext>
            </a:extLst>
          </p:cNvPr>
          <p:cNvSpPr>
            <a:spLocks noGrp="1"/>
          </p:cNvSpPr>
          <p:nvPr>
            <p:ph type="ctrTitle"/>
          </p:nvPr>
        </p:nvSpPr>
        <p:spPr>
          <a:prstGeom prst="flowChartAlternateProcess">
            <a:avLst/>
          </a:prstGeom>
          <a:solidFill>
            <a:schemeClr val="bg1"/>
          </a:solidFill>
          <a:ln>
            <a:noFill/>
          </a:ln>
          <a:effectLst>
            <a:softEdge rad="127000"/>
          </a:effectLst>
        </p:spPr>
        <p:txBody>
          <a:bodyPr/>
          <a:lstStyle/>
          <a:p>
            <a:r>
              <a:rPr lang="es-MX" dirty="0"/>
              <a:t>Caso de la bodega “Doña Cintia”</a:t>
            </a:r>
            <a:endParaRPr lang="es-PE" dirty="0"/>
          </a:p>
        </p:txBody>
      </p:sp>
      <p:sp>
        <p:nvSpPr>
          <p:cNvPr id="3" name="Subtitle 2">
            <a:extLst>
              <a:ext uri="{FF2B5EF4-FFF2-40B4-BE49-F238E27FC236}">
                <a16:creationId xmlns:a16="http://schemas.microsoft.com/office/drawing/2014/main" id="{3199791C-9516-3C05-6CD3-1DC50C9E31A5}"/>
              </a:ext>
            </a:extLst>
          </p:cNvPr>
          <p:cNvSpPr>
            <a:spLocks noGrp="1"/>
          </p:cNvSpPr>
          <p:nvPr>
            <p:ph type="subTitle" idx="1"/>
          </p:nvPr>
        </p:nvSpPr>
        <p:spPr/>
        <p:txBody>
          <a:bodyPr/>
          <a:lstStyle/>
          <a:p>
            <a:r>
              <a:rPr lang="es-MX" dirty="0">
                <a:solidFill>
                  <a:schemeClr val="bg1"/>
                </a:solidFill>
              </a:rPr>
              <a:t>Por Enzo Cárdenas, Franks Álvarez, Adriano Rodríguez y Yharem Fajardo</a:t>
            </a:r>
          </a:p>
          <a:p>
            <a:r>
              <a:rPr lang="es-MX" dirty="0">
                <a:solidFill>
                  <a:schemeClr val="bg1"/>
                </a:solidFill>
              </a:rPr>
              <a:t>Profesor: Jose Carlos Anicama Silva</a:t>
            </a:r>
            <a:endParaRPr lang="es-PE" dirty="0">
              <a:solidFill>
                <a:schemeClr val="bg1"/>
              </a:solidFill>
            </a:endParaRPr>
          </a:p>
        </p:txBody>
      </p:sp>
      <p:sp>
        <p:nvSpPr>
          <p:cNvPr id="4" name="TextBox 3">
            <a:extLst>
              <a:ext uri="{FF2B5EF4-FFF2-40B4-BE49-F238E27FC236}">
                <a16:creationId xmlns:a16="http://schemas.microsoft.com/office/drawing/2014/main" id="{B7D30F29-2236-4FC5-C542-88FCE95B8285}"/>
              </a:ext>
            </a:extLst>
          </p:cNvPr>
          <p:cNvSpPr txBox="1"/>
          <p:nvPr/>
        </p:nvSpPr>
        <p:spPr>
          <a:xfrm flipH="1">
            <a:off x="228974" y="6179574"/>
            <a:ext cx="5050948" cy="369332"/>
          </a:xfrm>
          <a:prstGeom prst="rect">
            <a:avLst/>
          </a:prstGeom>
          <a:noFill/>
        </p:spPr>
        <p:txBody>
          <a:bodyPr wrap="square" rtlCol="0">
            <a:spAutoFit/>
          </a:bodyPr>
          <a:lstStyle/>
          <a:p>
            <a:r>
              <a:rPr lang="es-MX" dirty="0"/>
              <a:t>Fundamentos de programación - </a:t>
            </a:r>
            <a:r>
              <a:rPr lang="es-PE" dirty="0"/>
              <a:t>226413.16572</a:t>
            </a:r>
          </a:p>
        </p:txBody>
      </p:sp>
      <p:sp>
        <p:nvSpPr>
          <p:cNvPr id="6" name="TextBox 5">
            <a:extLst>
              <a:ext uri="{FF2B5EF4-FFF2-40B4-BE49-F238E27FC236}">
                <a16:creationId xmlns:a16="http://schemas.microsoft.com/office/drawing/2014/main" id="{8DE95425-0A29-CD41-5F94-E5661E45D465}"/>
              </a:ext>
            </a:extLst>
          </p:cNvPr>
          <p:cNvSpPr txBox="1"/>
          <p:nvPr/>
        </p:nvSpPr>
        <p:spPr>
          <a:xfrm flipH="1">
            <a:off x="10668000" y="5902575"/>
            <a:ext cx="1061885" cy="646331"/>
          </a:xfrm>
          <a:prstGeom prst="rect">
            <a:avLst/>
          </a:prstGeom>
          <a:noFill/>
        </p:spPr>
        <p:txBody>
          <a:bodyPr wrap="square" rtlCol="0">
            <a:spAutoFit/>
          </a:bodyPr>
          <a:lstStyle/>
          <a:p>
            <a:r>
              <a:rPr lang="es-MX" dirty="0"/>
              <a:t>2026 – 1</a:t>
            </a:r>
          </a:p>
          <a:p>
            <a:pPr algn="ctr"/>
            <a:r>
              <a:rPr lang="es-MX" dirty="0"/>
              <a:t>UPN</a:t>
            </a:r>
            <a:endParaRPr lang="es-PE" dirty="0"/>
          </a:p>
        </p:txBody>
      </p:sp>
    </p:spTree>
    <p:extLst>
      <p:ext uri="{BB962C8B-B14F-4D97-AF65-F5344CB8AC3E}">
        <p14:creationId xmlns:p14="http://schemas.microsoft.com/office/powerpoint/2010/main" val="917063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5ACB46-704D-07B4-4417-3B94A921B0ED}"/>
              </a:ext>
            </a:extLst>
          </p:cNvPr>
          <p:cNvSpPr>
            <a:spLocks noGrp="1"/>
          </p:cNvSpPr>
          <p:nvPr>
            <p:ph type="title"/>
          </p:nvPr>
        </p:nvSpPr>
        <p:spPr>
          <a:xfrm>
            <a:off x="6094105" y="802955"/>
            <a:ext cx="4977976" cy="1454051"/>
          </a:xfrm>
        </p:spPr>
        <p:txBody>
          <a:bodyPr>
            <a:normAutofit/>
          </a:bodyPr>
          <a:lstStyle/>
          <a:p>
            <a:r>
              <a:rPr lang="es-MX" sz="3600" dirty="0">
                <a:solidFill>
                  <a:schemeClr val="tx2"/>
                </a:solidFill>
              </a:rPr>
              <a:t>Problemática</a:t>
            </a:r>
            <a:endParaRPr lang="es-PE" sz="3600" dirty="0">
              <a:solidFill>
                <a:schemeClr val="tx2"/>
              </a:solidFill>
            </a:endParaRPr>
          </a:p>
        </p:txBody>
      </p:sp>
      <p:pic>
        <p:nvPicPr>
          <p:cNvPr id="7" name="Graphic 6" descr="Kiosk">
            <a:extLst>
              <a:ext uri="{FF2B5EF4-FFF2-40B4-BE49-F238E27FC236}">
                <a16:creationId xmlns:a16="http://schemas.microsoft.com/office/drawing/2014/main" id="{2FA75598-1078-790F-7219-0D8BB99BC1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FD476EFB-7FB5-EC53-3A4B-1E4CC7B31BC6}"/>
              </a:ext>
            </a:extLst>
          </p:cNvPr>
          <p:cNvSpPr>
            <a:spLocks noGrp="1"/>
          </p:cNvSpPr>
          <p:nvPr>
            <p:ph idx="1"/>
          </p:nvPr>
        </p:nvSpPr>
        <p:spPr>
          <a:xfrm>
            <a:off x="6090574" y="2421682"/>
            <a:ext cx="4977578" cy="3639289"/>
          </a:xfrm>
        </p:spPr>
        <p:txBody>
          <a:bodyPr anchor="ctr">
            <a:normAutofit/>
          </a:bodyPr>
          <a:lstStyle/>
          <a:p>
            <a:pPr marL="0" indent="0">
              <a:buNone/>
            </a:pPr>
            <a:r>
              <a:rPr lang="es-MX" sz="1800" dirty="0">
                <a:solidFill>
                  <a:schemeClr val="tx2"/>
                </a:solidFill>
              </a:rPr>
              <a:t>La bodega “Doña Cintia” es un local que en los últimos meses ha estado reportando irregularidades en sus ganancias, en el reporte de su inventario, y en el manejo de </a:t>
            </a:r>
            <a:r>
              <a:rPr lang="es-MX" sz="1800">
                <a:solidFill>
                  <a:schemeClr val="tx2"/>
                </a:solidFill>
              </a:rPr>
              <a:t>sus impuestos.</a:t>
            </a:r>
            <a:endParaRPr lang="es-PE" sz="18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3340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F54517-7D2F-B5B3-5458-A310410F99BB}"/>
              </a:ext>
            </a:extLst>
          </p:cNvPr>
          <p:cNvSpPr>
            <a:spLocks noGrp="1"/>
          </p:cNvSpPr>
          <p:nvPr>
            <p:ph type="title"/>
          </p:nvPr>
        </p:nvSpPr>
        <p:spPr>
          <a:xfrm>
            <a:off x="466722" y="586855"/>
            <a:ext cx="3201366" cy="3387497"/>
          </a:xfrm>
        </p:spPr>
        <p:txBody>
          <a:bodyPr anchor="b">
            <a:normAutofit/>
          </a:bodyPr>
          <a:lstStyle/>
          <a:p>
            <a:pPr algn="r"/>
            <a:r>
              <a:rPr lang="es-MX" sz="4000" dirty="0">
                <a:solidFill>
                  <a:srgbClr val="FFFFFF"/>
                </a:solidFill>
              </a:rPr>
              <a:t>Análisis del problema</a:t>
            </a:r>
            <a:endParaRPr lang="es-PE" sz="4000" dirty="0">
              <a:solidFill>
                <a:srgbClr val="FFFFFF"/>
              </a:solidFill>
            </a:endParaRPr>
          </a:p>
        </p:txBody>
      </p:sp>
      <p:sp>
        <p:nvSpPr>
          <p:cNvPr id="3" name="Content Placeholder 2">
            <a:extLst>
              <a:ext uri="{FF2B5EF4-FFF2-40B4-BE49-F238E27FC236}">
                <a16:creationId xmlns:a16="http://schemas.microsoft.com/office/drawing/2014/main" id="{B695F8A6-EAC4-2BB4-BBF5-14C611B16C55}"/>
              </a:ext>
            </a:extLst>
          </p:cNvPr>
          <p:cNvSpPr>
            <a:spLocks noGrp="1"/>
          </p:cNvSpPr>
          <p:nvPr>
            <p:ph idx="1"/>
          </p:nvPr>
        </p:nvSpPr>
        <p:spPr>
          <a:xfrm>
            <a:off x="4810259" y="649480"/>
            <a:ext cx="6555347" cy="5546047"/>
          </a:xfrm>
        </p:spPr>
        <p:txBody>
          <a:bodyPr anchor="ctr">
            <a:normAutofit/>
          </a:bodyPr>
          <a:lstStyle/>
          <a:p>
            <a:pPr marL="0" indent="0">
              <a:buNone/>
            </a:pPr>
            <a:r>
              <a:rPr lang="es-MX" sz="2000" dirty="0"/>
              <a:t>Durante la entrevista que realizamos a Doña Cintia para recolectar datos y poder hallar las consecuencias de estos problemas, nos dimos cuenta de que al tratarse de una bodega local, se mantiene bajo el uso de registros tradicionales, libros, ficheros, cosa lo cual puede ser muy manipulable por los mismos trabajadores de Cintia, </a:t>
            </a:r>
            <a:r>
              <a:rPr lang="es-MX" sz="2000" dirty="0" err="1"/>
              <a:t>Cintisa</a:t>
            </a:r>
            <a:r>
              <a:rPr lang="es-MX" sz="2000" dirty="0"/>
              <a:t> nos comento en la entrevista que ella se encarga de la bodega los días Lunes y Domingos, mientras el resto de días son ocupados por sus empleados. Los días Lunes, Cintia eventualmente solo se encarga de revisar que los productos para </a:t>
            </a:r>
            <a:r>
              <a:rPr lang="es-MX" sz="2000" dirty="0" err="1"/>
              <a:t>restock</a:t>
            </a:r>
            <a:r>
              <a:rPr lang="es-MX" sz="2000" dirty="0"/>
              <a:t> lleguen, por lo que no suele tener mucho en cuenta lo que hay en su bodega hasta el día Domingo, día en el que tiene que verificar por cuenta propia el calculo de sus ventas y de almacén para saber cuales productos reponer y cuales son las ganancias hasta el momento.</a:t>
            </a:r>
            <a:endParaRPr lang="es-PE" sz="2000" dirty="0"/>
          </a:p>
        </p:txBody>
      </p:sp>
    </p:spTree>
    <p:extLst>
      <p:ext uri="{BB962C8B-B14F-4D97-AF65-F5344CB8AC3E}">
        <p14:creationId xmlns:p14="http://schemas.microsoft.com/office/powerpoint/2010/main" val="192274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8C11C08-86F9-08AA-F568-03589BF5339D}"/>
              </a:ext>
            </a:extLst>
          </p:cNvPr>
          <p:cNvSpPr>
            <a:spLocks noGrp="1"/>
          </p:cNvSpPr>
          <p:nvPr>
            <p:ph type="title"/>
          </p:nvPr>
        </p:nvSpPr>
        <p:spPr>
          <a:xfrm>
            <a:off x="838200" y="609600"/>
            <a:ext cx="3739341" cy="1330839"/>
          </a:xfrm>
        </p:spPr>
        <p:txBody>
          <a:bodyPr>
            <a:normAutofit/>
          </a:bodyPr>
          <a:lstStyle/>
          <a:p>
            <a:r>
              <a:rPr lang="es-MX" sz="3700"/>
              <a:t>Análisis del problema – Parte 2</a:t>
            </a:r>
            <a:endParaRPr lang="es-PE" sz="3700"/>
          </a:p>
        </p:txBody>
      </p:sp>
      <p:sp>
        <p:nvSpPr>
          <p:cNvPr id="3" name="Content Placeholder 2">
            <a:extLst>
              <a:ext uri="{FF2B5EF4-FFF2-40B4-BE49-F238E27FC236}">
                <a16:creationId xmlns:a16="http://schemas.microsoft.com/office/drawing/2014/main" id="{A6F2D9C9-AB25-4FCD-52BC-7BE4BD19D2EB}"/>
              </a:ext>
            </a:extLst>
          </p:cNvPr>
          <p:cNvSpPr>
            <a:spLocks noGrp="1"/>
          </p:cNvSpPr>
          <p:nvPr>
            <p:ph idx="1"/>
          </p:nvPr>
        </p:nvSpPr>
        <p:spPr>
          <a:xfrm>
            <a:off x="862366" y="2194102"/>
            <a:ext cx="3427001" cy="3908586"/>
          </a:xfrm>
        </p:spPr>
        <p:txBody>
          <a:bodyPr>
            <a:normAutofit/>
          </a:bodyPr>
          <a:lstStyle/>
          <a:p>
            <a:pPr marL="0" indent="0">
              <a:buNone/>
            </a:pPr>
            <a:r>
              <a:rPr lang="es-MX" sz="1900"/>
              <a:t>Para poder tener una mejor percepción de los problemas con los cuales contaba Doña Cintia, hicimos uso del diagrama de Ishikawa para poder recolectar los problemas de forma concisa, asimismo, usamos otros elementos tales como matrices de trazabilidad y tablas de problemas para tener un lineamiento de todas las actividades realizadas en la bodega.</a:t>
            </a:r>
          </a:p>
          <a:p>
            <a:pPr marL="0" indent="0">
              <a:buNone/>
            </a:pPr>
            <a:endParaRPr lang="es-PE" sz="1900"/>
          </a:p>
        </p:txBody>
      </p:sp>
      <p:pic>
        <p:nvPicPr>
          <p:cNvPr id="6" name="Picture 5">
            <a:extLst>
              <a:ext uri="{FF2B5EF4-FFF2-40B4-BE49-F238E27FC236}">
                <a16:creationId xmlns:a16="http://schemas.microsoft.com/office/drawing/2014/main" id="{118C6962-71C0-9C13-55FA-A9C29F556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5457" y="1709737"/>
            <a:ext cx="6155141" cy="3462266"/>
          </a:xfrm>
          <a:prstGeom prst="rect">
            <a:avLst/>
          </a:prstGeom>
        </p:spPr>
      </p:pic>
    </p:spTree>
    <p:extLst>
      <p:ext uri="{BB962C8B-B14F-4D97-AF65-F5344CB8AC3E}">
        <p14:creationId xmlns:p14="http://schemas.microsoft.com/office/powerpoint/2010/main" val="3767919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5D489D-16E1-484D-867B-144368D74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A496F5-B01E-4BF8-9D1E-C4E53B6F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257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2906963" y="1348064"/>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3A6851-2471-6B2D-093A-72BFB8BBB995}"/>
              </a:ext>
            </a:extLst>
          </p:cNvPr>
          <p:cNvSpPr>
            <a:spLocks noGrp="1"/>
          </p:cNvSpPr>
          <p:nvPr>
            <p:ph type="title"/>
          </p:nvPr>
        </p:nvSpPr>
        <p:spPr>
          <a:xfrm>
            <a:off x="838200" y="643467"/>
            <a:ext cx="2951205" cy="5571066"/>
          </a:xfrm>
        </p:spPr>
        <p:txBody>
          <a:bodyPr>
            <a:normAutofit/>
          </a:bodyPr>
          <a:lstStyle/>
          <a:p>
            <a:r>
              <a:rPr lang="es-MX">
                <a:solidFill>
                  <a:srgbClr val="FFFFFF"/>
                </a:solidFill>
              </a:rPr>
              <a:t>Tabla IPO</a:t>
            </a:r>
            <a:endParaRPr lang="es-PE">
              <a:solidFill>
                <a:srgbClr val="FFFFFF"/>
              </a:solidFill>
            </a:endParaRPr>
          </a:p>
        </p:txBody>
      </p:sp>
      <p:graphicFrame>
        <p:nvGraphicFramePr>
          <p:cNvPr id="4" name="Content Placeholder 3">
            <a:extLst>
              <a:ext uri="{FF2B5EF4-FFF2-40B4-BE49-F238E27FC236}">
                <a16:creationId xmlns:a16="http://schemas.microsoft.com/office/drawing/2014/main" id="{63CDA383-1F56-CC66-8563-22DCB44065CC}"/>
              </a:ext>
            </a:extLst>
          </p:cNvPr>
          <p:cNvGraphicFramePr>
            <a:graphicFrameLocks noGrp="1"/>
          </p:cNvGraphicFramePr>
          <p:nvPr>
            <p:ph idx="1"/>
            <p:extLst>
              <p:ext uri="{D42A27DB-BD31-4B8C-83A1-F6EECF244321}">
                <p14:modId xmlns:p14="http://schemas.microsoft.com/office/powerpoint/2010/main" val="625090214"/>
              </p:ext>
            </p:extLst>
          </p:nvPr>
        </p:nvGraphicFramePr>
        <p:xfrm>
          <a:off x="5203897" y="462197"/>
          <a:ext cx="6303730" cy="5593493"/>
        </p:xfrm>
        <a:graphic>
          <a:graphicData uri="http://schemas.openxmlformats.org/drawingml/2006/table">
            <a:tbl>
              <a:tblPr firstRow="1" bandRow="1">
                <a:tableStyleId>{5C22544A-7EE6-4342-B048-85BDC9FD1C3A}</a:tableStyleId>
              </a:tblPr>
              <a:tblGrid>
                <a:gridCol w="1988017">
                  <a:extLst>
                    <a:ext uri="{9D8B030D-6E8A-4147-A177-3AD203B41FA5}">
                      <a16:colId xmlns:a16="http://schemas.microsoft.com/office/drawing/2014/main" val="1072045244"/>
                    </a:ext>
                  </a:extLst>
                </a:gridCol>
                <a:gridCol w="1996956">
                  <a:extLst>
                    <a:ext uri="{9D8B030D-6E8A-4147-A177-3AD203B41FA5}">
                      <a16:colId xmlns:a16="http://schemas.microsoft.com/office/drawing/2014/main" val="805060047"/>
                    </a:ext>
                  </a:extLst>
                </a:gridCol>
                <a:gridCol w="2318757">
                  <a:extLst>
                    <a:ext uri="{9D8B030D-6E8A-4147-A177-3AD203B41FA5}">
                      <a16:colId xmlns:a16="http://schemas.microsoft.com/office/drawing/2014/main" val="2357150840"/>
                    </a:ext>
                  </a:extLst>
                </a:gridCol>
              </a:tblGrid>
              <a:tr h="377581">
                <a:tc>
                  <a:txBody>
                    <a:bodyPr/>
                    <a:lstStyle/>
                    <a:p>
                      <a:r>
                        <a:rPr lang="es-MX" sz="1700"/>
                        <a:t>Entrada</a:t>
                      </a:r>
                      <a:endParaRPr lang="es-PE" sz="1700"/>
                    </a:p>
                  </a:txBody>
                  <a:tcPr marL="85814" marR="85814" marT="42907" marB="42907"/>
                </a:tc>
                <a:tc>
                  <a:txBody>
                    <a:bodyPr/>
                    <a:lstStyle/>
                    <a:p>
                      <a:r>
                        <a:rPr lang="es-MX" sz="1700"/>
                        <a:t>Proceso</a:t>
                      </a:r>
                      <a:endParaRPr lang="es-PE" sz="1700"/>
                    </a:p>
                  </a:txBody>
                  <a:tcPr marL="85814" marR="85814" marT="42907" marB="42907"/>
                </a:tc>
                <a:tc>
                  <a:txBody>
                    <a:bodyPr/>
                    <a:lstStyle/>
                    <a:p>
                      <a:r>
                        <a:rPr lang="es-MX" sz="1700"/>
                        <a:t>Salida</a:t>
                      </a:r>
                      <a:endParaRPr lang="es-PE" sz="1700"/>
                    </a:p>
                  </a:txBody>
                  <a:tcPr marL="85814" marR="85814" marT="42907" marB="42907"/>
                </a:tc>
                <a:extLst>
                  <a:ext uri="{0D108BD9-81ED-4DB2-BD59-A6C34878D82A}">
                    <a16:rowId xmlns:a16="http://schemas.microsoft.com/office/drawing/2014/main" val="1689213753"/>
                  </a:ext>
                </a:extLst>
              </a:tr>
              <a:tr h="1493158">
                <a:tc>
                  <a:txBody>
                    <a:bodyPr/>
                    <a:lstStyle/>
                    <a:p>
                      <a:r>
                        <a:rPr lang="es-MX" sz="1100"/>
                        <a:t>Registros de usuario: nombres de los usuarios, roles, contraseñas.</a:t>
                      </a:r>
                      <a:endParaRPr lang="es-PE" sz="1100"/>
                    </a:p>
                  </a:txBody>
                  <a:tcPr marL="85814" marR="85814" marT="42907" marB="42907"/>
                </a:tc>
                <a:tc>
                  <a:txBody>
                    <a:bodyPr/>
                    <a:lstStyle/>
                    <a:p>
                      <a:r>
                        <a:rPr lang="es-MX" sz="1100"/>
                        <a:t>Registra el numero de los usuarios con sus respectivas propiedades y posteriormente las valida mediante un bucle</a:t>
                      </a:r>
                      <a:endParaRPr lang="es-PE" sz="1100"/>
                    </a:p>
                  </a:txBody>
                  <a:tcPr marL="85814" marR="85814" marT="42907" marB="42907"/>
                </a:tc>
                <a:tc>
                  <a:txBody>
                    <a:bodyPr/>
                    <a:lstStyle/>
                    <a:p>
                      <a:r>
                        <a:rPr lang="es-MX" sz="1100"/>
                        <a:t>Acceso permitido/denegado al sistema: Dependiendo de lo que ingrese el usuario, si las credenciales son correctas y dependiendo de su rol será derivado a las funciones con las cuales cuenta su rol dentro del sistema</a:t>
                      </a:r>
                      <a:endParaRPr lang="es-PE" sz="1100"/>
                    </a:p>
                  </a:txBody>
                  <a:tcPr marL="85814" marR="85814" marT="42907" marB="42907"/>
                </a:tc>
                <a:extLst>
                  <a:ext uri="{0D108BD9-81ED-4DB2-BD59-A6C34878D82A}">
                    <a16:rowId xmlns:a16="http://schemas.microsoft.com/office/drawing/2014/main" val="2943461597"/>
                  </a:ext>
                </a:extLst>
              </a:tr>
              <a:tr h="806649">
                <a:tc>
                  <a:txBody>
                    <a:bodyPr/>
                    <a:lstStyle/>
                    <a:p>
                      <a:r>
                        <a:rPr lang="es-MX" sz="1100"/>
                        <a:t>Calculo de impuestos: ventas</a:t>
                      </a:r>
                      <a:endParaRPr lang="es-PE" sz="1100"/>
                    </a:p>
                  </a:txBody>
                  <a:tcPr marL="85814" marR="85814" marT="42907" marB="42907"/>
                </a:tc>
                <a:tc>
                  <a:txBody>
                    <a:bodyPr/>
                    <a:lstStyle/>
                    <a:p>
                      <a:r>
                        <a:rPr lang="es-MX" sz="1100"/>
                        <a:t>Estima mediante el total de ventas, el igv, los costes y el pago de alquiler las ganancias</a:t>
                      </a:r>
                      <a:endParaRPr lang="es-PE" sz="1100"/>
                    </a:p>
                  </a:txBody>
                  <a:tcPr marL="85814" marR="85814" marT="42907" marB="42907"/>
                </a:tc>
                <a:tc>
                  <a:txBody>
                    <a:bodyPr/>
                    <a:lstStyle/>
                    <a:p>
                      <a:r>
                        <a:rPr lang="es-MX" sz="1100"/>
                        <a:t>Ganancias netas del negocio</a:t>
                      </a:r>
                      <a:endParaRPr lang="es-PE" sz="1100"/>
                    </a:p>
                  </a:txBody>
                  <a:tcPr marL="85814" marR="85814" marT="42907" marB="42907"/>
                </a:tc>
                <a:extLst>
                  <a:ext uri="{0D108BD9-81ED-4DB2-BD59-A6C34878D82A}">
                    <a16:rowId xmlns:a16="http://schemas.microsoft.com/office/drawing/2014/main" val="5595043"/>
                  </a:ext>
                </a:extLst>
              </a:tr>
              <a:tr h="1321531">
                <a:tc>
                  <a:txBody>
                    <a:bodyPr/>
                    <a:lstStyle/>
                    <a:p>
                      <a:r>
                        <a:rPr lang="es-MX" sz="1100" dirty="0"/>
                        <a:t>Registro del almacén: productos, cantidad, precio</a:t>
                      </a:r>
                      <a:endParaRPr lang="es-PE" sz="1100" dirty="0"/>
                    </a:p>
                  </a:txBody>
                  <a:tcPr marL="85814" marR="85814" marT="42907" marB="42907"/>
                </a:tc>
                <a:tc>
                  <a:txBody>
                    <a:bodyPr/>
                    <a:lstStyle/>
                    <a:p>
                      <a:r>
                        <a:rPr lang="es-MX" sz="1100"/>
                        <a:t>Mediante una lista almacena no solo el producto, sino también su precio, su cantidad, y el precio de obtención, cosa lo cual se almacenara y se dispondrá a los empleados</a:t>
                      </a:r>
                      <a:endParaRPr lang="es-PE" sz="1100"/>
                    </a:p>
                  </a:txBody>
                  <a:tcPr marL="85814" marR="85814" marT="42907" marB="42907"/>
                </a:tc>
                <a:tc>
                  <a:txBody>
                    <a:bodyPr/>
                    <a:lstStyle/>
                    <a:p>
                      <a:r>
                        <a:rPr lang="es-MX" sz="1100" dirty="0"/>
                        <a:t>Registro de productos en un documento </a:t>
                      </a:r>
                      <a:r>
                        <a:rPr lang="es-MX" sz="1100" dirty="0" err="1"/>
                        <a:t>txt</a:t>
                      </a:r>
                      <a:endParaRPr lang="es-PE" sz="1100" dirty="0"/>
                    </a:p>
                  </a:txBody>
                  <a:tcPr marL="85814" marR="85814" marT="42907" marB="42907"/>
                </a:tc>
                <a:extLst>
                  <a:ext uri="{0D108BD9-81ED-4DB2-BD59-A6C34878D82A}">
                    <a16:rowId xmlns:a16="http://schemas.microsoft.com/office/drawing/2014/main" val="224708554"/>
                  </a:ext>
                </a:extLst>
              </a:tr>
              <a:tr h="1321531">
                <a:tc>
                  <a:txBody>
                    <a:bodyPr/>
                    <a:lstStyle/>
                    <a:p>
                      <a:r>
                        <a:rPr lang="es-MX" sz="1100" dirty="0"/>
                        <a:t>Registro de ventas: ventas mensuales</a:t>
                      </a:r>
                      <a:endParaRPr lang="es-PE" sz="1100" dirty="0"/>
                    </a:p>
                  </a:txBody>
                  <a:tcPr marL="85814" marR="85814" marT="42907" marB="42907"/>
                </a:tc>
                <a:tc>
                  <a:txBody>
                    <a:bodyPr/>
                    <a:lstStyle/>
                    <a:p>
                      <a:r>
                        <a:rPr lang="es-MX" sz="1100" dirty="0"/>
                        <a:t>Un sistema de bucle simple se encargara de almacenar en un array las ventas en total realizadas a lo largo del mes, y, evaluando la cantidad de productos iniciales entre la cantidad de productos finales, podrá verificar si las ventas son correctas o no</a:t>
                      </a:r>
                      <a:endParaRPr lang="es-PE" sz="1100" dirty="0"/>
                    </a:p>
                  </a:txBody>
                  <a:tcPr marL="85814" marR="85814" marT="42907" marB="42907"/>
                </a:tc>
                <a:tc>
                  <a:txBody>
                    <a:bodyPr/>
                    <a:lstStyle/>
                    <a:p>
                      <a:r>
                        <a:rPr lang="es-MX" sz="1100" dirty="0"/>
                        <a:t>Ventas precisas y detección de fallos en el registro de ventas</a:t>
                      </a:r>
                      <a:endParaRPr lang="es-PE" sz="1100" dirty="0"/>
                    </a:p>
                  </a:txBody>
                  <a:tcPr marL="85814" marR="85814" marT="42907" marB="42907"/>
                </a:tc>
                <a:extLst>
                  <a:ext uri="{0D108BD9-81ED-4DB2-BD59-A6C34878D82A}">
                    <a16:rowId xmlns:a16="http://schemas.microsoft.com/office/drawing/2014/main" val="2316536458"/>
                  </a:ext>
                </a:extLst>
              </a:tr>
            </a:tbl>
          </a:graphicData>
        </a:graphic>
      </p:graphicFrame>
    </p:spTree>
    <p:extLst>
      <p:ext uri="{BB962C8B-B14F-4D97-AF65-F5344CB8AC3E}">
        <p14:creationId xmlns:p14="http://schemas.microsoft.com/office/powerpoint/2010/main" val="137142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E89B62-C63B-4A07-7473-3A8351AB1335}"/>
              </a:ext>
            </a:extLst>
          </p:cNvPr>
          <p:cNvSpPr>
            <a:spLocks noGrp="1"/>
          </p:cNvSpPr>
          <p:nvPr>
            <p:ph type="title"/>
          </p:nvPr>
        </p:nvSpPr>
        <p:spPr>
          <a:xfrm>
            <a:off x="956826" y="1112969"/>
            <a:ext cx="3937298" cy="4166010"/>
          </a:xfrm>
        </p:spPr>
        <p:txBody>
          <a:bodyPr>
            <a:normAutofit/>
          </a:bodyPr>
          <a:lstStyle/>
          <a:p>
            <a:r>
              <a:rPr lang="es-MX" dirty="0">
                <a:solidFill>
                  <a:srgbClr val="FFFFFF"/>
                </a:solidFill>
              </a:rPr>
              <a:t>Solución al problema</a:t>
            </a:r>
            <a:endParaRPr lang="es-PE" dirty="0">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3C41485-695A-5B17-B5F2-964F4BA41182}"/>
              </a:ext>
            </a:extLst>
          </p:cNvPr>
          <p:cNvSpPr>
            <a:spLocks noGrp="1"/>
          </p:cNvSpPr>
          <p:nvPr>
            <p:ph idx="1"/>
          </p:nvPr>
        </p:nvSpPr>
        <p:spPr>
          <a:xfrm>
            <a:off x="6096000" y="820880"/>
            <a:ext cx="5257799" cy="4889350"/>
          </a:xfrm>
        </p:spPr>
        <p:txBody>
          <a:bodyPr anchor="t">
            <a:normAutofit/>
          </a:bodyPr>
          <a:lstStyle/>
          <a:p>
            <a:pPr marL="0" indent="0">
              <a:buNone/>
            </a:pPr>
            <a:r>
              <a:rPr lang="es-MX" dirty="0"/>
              <a:t>Para que podamos dar solución a este problema, aplicaremos diagramas de flujo y seudocódigo para tener un concepto claro de que funciones queremos en el código, que queremos que el usuario ingrese, entre otras cosas.</a:t>
            </a:r>
            <a:endParaRPr lang="es-PE" dirty="0"/>
          </a:p>
          <a:p>
            <a:endParaRPr lang="es-PE"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345440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0366137-3DBB-4912-98D5-672702020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28D1CE-5BF4-45B7-8D6D-B31A31980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775791" cy="6857999"/>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F2B9F-4B1F-06C5-16FD-BAA8FCA57FFC}"/>
              </a:ext>
            </a:extLst>
          </p:cNvPr>
          <p:cNvSpPr>
            <a:spLocks noGrp="1"/>
          </p:cNvSpPr>
          <p:nvPr>
            <p:ph type="title"/>
          </p:nvPr>
        </p:nvSpPr>
        <p:spPr>
          <a:xfrm>
            <a:off x="773526" y="685801"/>
            <a:ext cx="3228738" cy="1591235"/>
          </a:xfrm>
        </p:spPr>
        <p:txBody>
          <a:bodyPr vert="horz" lIns="91440" tIns="45720" rIns="91440" bIns="45720" rtlCol="0" anchor="b">
            <a:normAutofit/>
          </a:bodyPr>
          <a:lstStyle/>
          <a:p>
            <a:pPr algn="ctr"/>
            <a:r>
              <a:rPr lang="en-US" sz="2800">
                <a:solidFill>
                  <a:schemeClr val="bg1">
                    <a:alpha val="60000"/>
                  </a:schemeClr>
                </a:solidFill>
              </a:rPr>
              <a:t>Diseño de la solución:</a:t>
            </a:r>
          </a:p>
        </p:txBody>
      </p:sp>
      <p:sp>
        <p:nvSpPr>
          <p:cNvPr id="10" name="TextBox 9">
            <a:extLst>
              <a:ext uri="{FF2B5EF4-FFF2-40B4-BE49-F238E27FC236}">
                <a16:creationId xmlns:a16="http://schemas.microsoft.com/office/drawing/2014/main" id="{BD5820D7-691B-3DF1-E155-249F36BD46E6}"/>
              </a:ext>
            </a:extLst>
          </p:cNvPr>
          <p:cNvSpPr txBox="1"/>
          <p:nvPr/>
        </p:nvSpPr>
        <p:spPr>
          <a:xfrm>
            <a:off x="773526" y="2563907"/>
            <a:ext cx="3228738" cy="3544498"/>
          </a:xfrm>
          <a:prstGeom prst="rect">
            <a:avLst/>
          </a:prstGeom>
        </p:spPr>
        <p:txBody>
          <a:bodyPr vert="horz" lIns="91440" tIns="45720" rIns="91440" bIns="45720" rtlCol="0" anchor="t">
            <a:normAutofit/>
          </a:bodyPr>
          <a:lstStyle/>
          <a:p>
            <a:pPr indent="-228600" algn="ctr">
              <a:lnSpc>
                <a:spcPct val="90000"/>
              </a:lnSpc>
              <a:spcAft>
                <a:spcPts val="600"/>
              </a:spcAft>
              <a:buFont typeface="Arial" panose="020B0604020202020204" pitchFamily="34" charset="0"/>
              <a:buChar char="•"/>
            </a:pPr>
            <a:r>
              <a:rPr lang="en-US" sz="2000">
                <a:solidFill>
                  <a:schemeClr val="bg1"/>
                </a:solidFill>
              </a:rPr>
              <a:t>En principio haremos una estructura de Seudocódigo, esto nos servirá principalmente para saber en que secciones dividiremos las funciones de nuestro código y como es que estará estructurado una vez lo plasmemos a código real</a:t>
            </a:r>
          </a:p>
        </p:txBody>
      </p:sp>
      <p:pic>
        <p:nvPicPr>
          <p:cNvPr id="7" name="Content Placeholder 6">
            <a:extLst>
              <a:ext uri="{FF2B5EF4-FFF2-40B4-BE49-F238E27FC236}">
                <a16:creationId xmlns:a16="http://schemas.microsoft.com/office/drawing/2014/main" id="{06EE5922-D1BB-C594-77C2-011C9A2238CD}"/>
              </a:ext>
            </a:extLst>
          </p:cNvPr>
          <p:cNvPicPr>
            <a:picLocks noGrp="1" noChangeAspect="1"/>
          </p:cNvPicPr>
          <p:nvPr>
            <p:ph sz="half" idx="1"/>
          </p:nvPr>
        </p:nvPicPr>
        <p:blipFill>
          <a:blip r:embed="rId2"/>
          <a:srcRect r="2201" b="1"/>
          <a:stretch>
            <a:fillRect/>
          </a:stretch>
        </p:blipFill>
        <p:spPr>
          <a:xfrm>
            <a:off x="5505184" y="685802"/>
            <a:ext cx="2889221" cy="5486398"/>
          </a:xfrm>
          <a:prstGeom prst="rect">
            <a:avLst/>
          </a:prstGeom>
        </p:spPr>
      </p:pic>
      <p:pic>
        <p:nvPicPr>
          <p:cNvPr id="9" name="Content Placeholder 8">
            <a:extLst>
              <a:ext uri="{FF2B5EF4-FFF2-40B4-BE49-F238E27FC236}">
                <a16:creationId xmlns:a16="http://schemas.microsoft.com/office/drawing/2014/main" id="{B68B7CDF-70A8-2394-B255-CE5EC037F9F4}"/>
              </a:ext>
            </a:extLst>
          </p:cNvPr>
          <p:cNvPicPr>
            <a:picLocks noGrp="1" noChangeAspect="1"/>
          </p:cNvPicPr>
          <p:nvPr>
            <p:ph sz="half" idx="2"/>
          </p:nvPr>
        </p:nvPicPr>
        <p:blipFill>
          <a:blip r:embed="rId3"/>
          <a:srcRect r="24555"/>
          <a:stretch>
            <a:fillRect/>
          </a:stretch>
        </p:blipFill>
        <p:spPr>
          <a:xfrm>
            <a:off x="8558383" y="688999"/>
            <a:ext cx="2953135" cy="5480003"/>
          </a:xfrm>
          <a:prstGeom prst="rect">
            <a:avLst/>
          </a:prstGeom>
        </p:spPr>
      </p:pic>
    </p:spTree>
    <p:extLst>
      <p:ext uri="{BB962C8B-B14F-4D97-AF65-F5344CB8AC3E}">
        <p14:creationId xmlns:p14="http://schemas.microsoft.com/office/powerpoint/2010/main" val="1577812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55003-82B7-7EF9-3B67-2383CF81D291}"/>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693067-8440-E4B0-09BE-DF5368B856CF}"/>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kern="1200">
                <a:solidFill>
                  <a:schemeClr val="tx1"/>
                </a:solidFill>
                <a:latin typeface="+mj-lt"/>
                <a:ea typeface="+mj-ea"/>
                <a:cs typeface="+mj-cs"/>
              </a:rPr>
              <a:t>Diseño de la solución:</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0A8FA37-883E-8798-B6BA-5FFC62319DC7}"/>
              </a:ext>
            </a:extLst>
          </p:cNvPr>
          <p:cNvSpPr txBox="1"/>
          <p:nvPr/>
        </p:nvSpPr>
        <p:spPr>
          <a:xfrm>
            <a:off x="645066" y="2031101"/>
            <a:ext cx="4282984"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Pasamos de seudocódigo a un diagrama de flujo, como lo dice su nombre, esto nos servirá para poder comprender el recorrido de nuestro codigo, cuales serán las rutas a las cuales el usuario será dirigido en base a lo que ingrese</a:t>
            </a:r>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0BA14AB9-EF21-708A-3EE0-9EAF0F2A0D54}"/>
              </a:ext>
            </a:extLst>
          </p:cNvPr>
          <p:cNvPicPr>
            <a:picLocks noGrp="1" noChangeAspect="1"/>
          </p:cNvPicPr>
          <p:nvPr>
            <p:ph sz="half" idx="1"/>
          </p:nvPr>
        </p:nvPicPr>
        <p:blipFill>
          <a:blip r:embed="rId2"/>
          <a:stretch>
            <a:fillRect/>
          </a:stretch>
        </p:blipFill>
        <p:spPr>
          <a:xfrm>
            <a:off x="7067018" y="650494"/>
            <a:ext cx="3469458" cy="5324142"/>
          </a:xfrm>
          <a:prstGeom prst="rect">
            <a:avLst/>
          </a:prstGeom>
        </p:spPr>
      </p:pic>
    </p:spTree>
    <p:extLst>
      <p:ext uri="{BB962C8B-B14F-4D97-AF65-F5344CB8AC3E}">
        <p14:creationId xmlns:p14="http://schemas.microsoft.com/office/powerpoint/2010/main" val="353939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6E04CE-DA0B-3B57-3DC0-84162BB8FFB2}"/>
              </a:ext>
            </a:extLst>
          </p:cNvPr>
          <p:cNvPicPr>
            <a:picLocks noChangeAspect="1"/>
          </p:cNvPicPr>
          <p:nvPr/>
        </p:nvPicPr>
        <p:blipFill>
          <a:blip r:embed="rId2"/>
          <a:stretch>
            <a:fillRect/>
          </a:stretch>
        </p:blipFill>
        <p:spPr>
          <a:xfrm>
            <a:off x="383458" y="1096837"/>
            <a:ext cx="3154362" cy="3354638"/>
          </a:xfrm>
          <a:prstGeom prst="rect">
            <a:avLst/>
          </a:prstGeom>
        </p:spPr>
      </p:pic>
      <p:pic>
        <p:nvPicPr>
          <p:cNvPr id="3" name="Picture 2">
            <a:extLst>
              <a:ext uri="{FF2B5EF4-FFF2-40B4-BE49-F238E27FC236}">
                <a16:creationId xmlns:a16="http://schemas.microsoft.com/office/drawing/2014/main" id="{E44BE069-0E21-71C4-E05E-1A3652D787EE}"/>
              </a:ext>
            </a:extLst>
          </p:cNvPr>
          <p:cNvPicPr>
            <a:picLocks noChangeAspect="1"/>
          </p:cNvPicPr>
          <p:nvPr/>
        </p:nvPicPr>
        <p:blipFill>
          <a:blip r:embed="rId3"/>
          <a:stretch>
            <a:fillRect/>
          </a:stretch>
        </p:blipFill>
        <p:spPr>
          <a:xfrm>
            <a:off x="3992563" y="1096837"/>
            <a:ext cx="3753374" cy="4172532"/>
          </a:xfrm>
          <a:prstGeom prst="rect">
            <a:avLst/>
          </a:prstGeom>
        </p:spPr>
      </p:pic>
      <p:pic>
        <p:nvPicPr>
          <p:cNvPr id="6" name="Picture 5">
            <a:extLst>
              <a:ext uri="{FF2B5EF4-FFF2-40B4-BE49-F238E27FC236}">
                <a16:creationId xmlns:a16="http://schemas.microsoft.com/office/drawing/2014/main" id="{235C8EBC-FFF3-B198-C752-290F15E43092}"/>
              </a:ext>
            </a:extLst>
          </p:cNvPr>
          <p:cNvPicPr>
            <a:picLocks noChangeAspect="1"/>
          </p:cNvPicPr>
          <p:nvPr/>
        </p:nvPicPr>
        <p:blipFill>
          <a:blip r:embed="rId4"/>
          <a:stretch>
            <a:fillRect/>
          </a:stretch>
        </p:blipFill>
        <p:spPr>
          <a:xfrm>
            <a:off x="8200680" y="1087216"/>
            <a:ext cx="3381847" cy="3705742"/>
          </a:xfrm>
          <a:prstGeom prst="rect">
            <a:avLst/>
          </a:prstGeom>
        </p:spPr>
      </p:pic>
      <p:sp>
        <p:nvSpPr>
          <p:cNvPr id="8" name="TextBox 7">
            <a:extLst>
              <a:ext uri="{FF2B5EF4-FFF2-40B4-BE49-F238E27FC236}">
                <a16:creationId xmlns:a16="http://schemas.microsoft.com/office/drawing/2014/main" id="{5FDFC830-3737-E73C-1F8F-AFC3A2673C90}"/>
              </a:ext>
            </a:extLst>
          </p:cNvPr>
          <p:cNvSpPr txBox="1"/>
          <p:nvPr/>
        </p:nvSpPr>
        <p:spPr>
          <a:xfrm>
            <a:off x="383458" y="4792958"/>
            <a:ext cx="3154362" cy="1754326"/>
          </a:xfrm>
          <a:prstGeom prst="rect">
            <a:avLst/>
          </a:prstGeom>
          <a:noFill/>
        </p:spPr>
        <p:txBody>
          <a:bodyPr wrap="square" rtlCol="0">
            <a:spAutoFit/>
          </a:bodyPr>
          <a:lstStyle/>
          <a:p>
            <a:r>
              <a:rPr lang="es-MX" dirty="0"/>
              <a:t>Pasamos al diagrama de flujo, como se menciono anteriormente, el diagrama de flujo nos permitirá saber todo el recorrido del usuario, donde en el </a:t>
            </a:r>
            <a:r>
              <a:rPr lang="es-MX" dirty="0" err="1"/>
              <a:t>login</a:t>
            </a:r>
            <a:endParaRPr lang="es-PE" dirty="0"/>
          </a:p>
        </p:txBody>
      </p:sp>
    </p:spTree>
    <p:extLst>
      <p:ext uri="{BB962C8B-B14F-4D97-AF65-F5344CB8AC3E}">
        <p14:creationId xmlns:p14="http://schemas.microsoft.com/office/powerpoint/2010/main" val="2598968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BE8FF-4575-2176-FADE-0E77419583AA}"/>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a:t>Código en C#</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13C1F0A0-2ABF-2C09-A4F4-A88606981888}"/>
              </a:ext>
            </a:extLst>
          </p:cNvPr>
          <p:cNvSpPr txBox="1">
            <a:spLocks noGrp="1"/>
          </p:cNvSpPr>
          <p:nvPr>
            <p:ph type="body" sz="half" idx="2"/>
          </p:nvPr>
        </p:nvSpPr>
        <p:spPr>
          <a:xfrm>
            <a:off x="590719" y="2330505"/>
            <a:ext cx="4559425" cy="3979585"/>
          </a:xfrm>
          <a:prstGeom prst="rect">
            <a:avLst/>
          </a:prstGeom>
        </p:spPr>
        <p:txBody>
          <a:bodyPr vert="horz" lIns="91440" tIns="45720" rIns="91440" bIns="45720" rtlCol="0" anchor="ctr">
            <a:normAutofit/>
          </a:bodyPr>
          <a:lstStyle/>
          <a:p>
            <a:pPr indent="-228600">
              <a:buFont typeface="Arial" panose="020B0604020202020204" pitchFamily="34" charset="0"/>
              <a:buChar char="•"/>
            </a:pPr>
            <a:r>
              <a:rPr lang="en-US" sz="2000"/>
              <a:t>Esta es una de las primeras cosas que ve el administrador de la empresa, el login, su función no es solo detener el paso de los usuarios que no cumplen con las credenciales necesarias para acceder a las diversas funciones, sino también, e inicialmente, almacenar la lista de trabajadores, sus roles, y sus contraseñas</a:t>
            </a:r>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A47BB163-5548-0904-B14E-1AF85240280C}"/>
              </a:ext>
            </a:extLst>
          </p:cNvPr>
          <p:cNvPicPr>
            <a:picLocks noGrp="1" noChangeAspect="1"/>
          </p:cNvPicPr>
          <p:nvPr>
            <p:ph idx="1"/>
          </p:nvPr>
        </p:nvPicPr>
        <p:blipFill>
          <a:blip r:embed="rId2"/>
          <a:srcRect r="1742" b="1"/>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219177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68586-5919-2C01-2AC6-138C8181F717}"/>
              </a:ext>
            </a:extLst>
          </p:cNvPr>
          <p:cNvSpPr>
            <a:spLocks noGrp="1"/>
          </p:cNvSpPr>
          <p:nvPr>
            <p:ph type="title"/>
          </p:nvPr>
        </p:nvSpPr>
        <p:spPr>
          <a:xfrm>
            <a:off x="532015" y="4495568"/>
            <a:ext cx="3861960" cy="1905232"/>
          </a:xfrm>
        </p:spPr>
        <p:txBody>
          <a:bodyPr vert="horz" lIns="91440" tIns="45720" rIns="91440" bIns="45720" rtlCol="0" anchor="ctr">
            <a:normAutofit/>
          </a:bodyPr>
          <a:lstStyle/>
          <a:p>
            <a:r>
              <a:rPr lang="en-US" sz="3200"/>
              <a:t>Aplicación del código</a:t>
            </a:r>
          </a:p>
        </p:txBody>
      </p:sp>
      <p:sp>
        <p:nvSpPr>
          <p:cNvPr id="15" name="Rectangle 14">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98FD2873-B3A2-172E-CBE7-3256B10AD7F5}"/>
              </a:ext>
            </a:extLst>
          </p:cNvPr>
          <p:cNvPicPr>
            <a:picLocks noGrp="1" noChangeAspect="1"/>
          </p:cNvPicPr>
          <p:nvPr>
            <p:ph sz="half" idx="1"/>
          </p:nvPr>
        </p:nvPicPr>
        <p:blipFill>
          <a:blip r:embed="rId2"/>
          <a:stretch>
            <a:fillRect/>
          </a:stretch>
        </p:blipFill>
        <p:spPr>
          <a:xfrm>
            <a:off x="1834708" y="364143"/>
            <a:ext cx="3143778" cy="3426462"/>
          </a:xfrm>
          <a:prstGeom prst="rect">
            <a:avLst/>
          </a:prstGeom>
        </p:spPr>
      </p:pic>
      <p:pic>
        <p:nvPicPr>
          <p:cNvPr id="8" name="Content Placeholder 7">
            <a:extLst>
              <a:ext uri="{FF2B5EF4-FFF2-40B4-BE49-F238E27FC236}">
                <a16:creationId xmlns:a16="http://schemas.microsoft.com/office/drawing/2014/main" id="{D7636290-6F7B-D03B-7D4C-03DE2C19A21F}"/>
              </a:ext>
            </a:extLst>
          </p:cNvPr>
          <p:cNvPicPr>
            <a:picLocks noGrp="1" noChangeAspect="1"/>
          </p:cNvPicPr>
          <p:nvPr>
            <p:ph sz="half" idx="2"/>
          </p:nvPr>
        </p:nvPicPr>
        <p:blipFill>
          <a:blip r:embed="rId3"/>
          <a:stretch>
            <a:fillRect/>
          </a:stretch>
        </p:blipFill>
        <p:spPr>
          <a:xfrm>
            <a:off x="6297264" y="375810"/>
            <a:ext cx="5136795" cy="3403126"/>
          </a:xfrm>
          <a:prstGeom prst="rect">
            <a:avLst/>
          </a:prstGeom>
        </p:spPr>
      </p:pic>
      <p:sp>
        <p:nvSpPr>
          <p:cNvPr id="19" name="Rectangle 18">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57494B6-BE52-8373-949C-E2A08EBE809C}"/>
              </a:ext>
            </a:extLst>
          </p:cNvPr>
          <p:cNvSpPr txBox="1"/>
          <p:nvPr/>
        </p:nvSpPr>
        <p:spPr>
          <a:xfrm>
            <a:off x="5162719" y="4495568"/>
            <a:ext cx="6586915" cy="190523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t>Lo </a:t>
            </a:r>
            <a:r>
              <a:rPr lang="en-US" dirty="0" err="1"/>
              <a:t>que</a:t>
            </a:r>
            <a:r>
              <a:rPr lang="en-US" dirty="0"/>
              <a:t> </a:t>
            </a:r>
            <a:r>
              <a:rPr lang="en-US" dirty="0" err="1"/>
              <a:t>tenemos</a:t>
            </a:r>
            <a:r>
              <a:rPr lang="en-US" dirty="0"/>
              <a:t> </a:t>
            </a:r>
            <a:r>
              <a:rPr lang="en-US" dirty="0" err="1"/>
              <a:t>aquí</a:t>
            </a:r>
            <a:r>
              <a:rPr lang="en-US" dirty="0"/>
              <a:t> es la </a:t>
            </a:r>
            <a:r>
              <a:rPr lang="en-US" dirty="0" err="1"/>
              <a:t>estructura</a:t>
            </a:r>
            <a:r>
              <a:rPr lang="en-US" dirty="0"/>
              <a:t> del </a:t>
            </a:r>
            <a:r>
              <a:rPr lang="en-US" dirty="0" err="1"/>
              <a:t>filtrador</a:t>
            </a:r>
            <a:r>
              <a:rPr lang="en-US" dirty="0"/>
              <a:t> del login, </a:t>
            </a:r>
            <a:r>
              <a:rPr lang="en-US" dirty="0" err="1"/>
              <a:t>esto</a:t>
            </a:r>
            <a:r>
              <a:rPr lang="en-US" dirty="0"/>
              <a:t> </a:t>
            </a:r>
            <a:r>
              <a:rPr lang="en-US" dirty="0" err="1"/>
              <a:t>nos</a:t>
            </a:r>
            <a:r>
              <a:rPr lang="en-US" dirty="0"/>
              <a:t> </a:t>
            </a:r>
            <a:r>
              <a:rPr lang="en-US" dirty="0" err="1"/>
              <a:t>ayudara</a:t>
            </a:r>
            <a:r>
              <a:rPr lang="en-US" dirty="0"/>
              <a:t> a </a:t>
            </a:r>
            <a:r>
              <a:rPr lang="en-US" dirty="0" err="1"/>
              <a:t>evitar</a:t>
            </a:r>
            <a:r>
              <a:rPr lang="en-US" dirty="0"/>
              <a:t> </a:t>
            </a:r>
            <a:r>
              <a:rPr lang="en-US" dirty="0" err="1"/>
              <a:t>que</a:t>
            </a:r>
            <a:r>
              <a:rPr lang="en-US" dirty="0"/>
              <a:t> </a:t>
            </a:r>
            <a:r>
              <a:rPr lang="en-US" dirty="0" err="1"/>
              <a:t>usuarios</a:t>
            </a:r>
            <a:r>
              <a:rPr lang="en-US" dirty="0"/>
              <a:t> </a:t>
            </a:r>
            <a:r>
              <a:rPr lang="en-US" dirty="0" err="1"/>
              <a:t>externos</a:t>
            </a:r>
            <a:r>
              <a:rPr lang="en-US" dirty="0"/>
              <a:t> a la </a:t>
            </a:r>
            <a:r>
              <a:rPr lang="en-US" dirty="0" err="1"/>
              <a:t>planilla</a:t>
            </a:r>
            <a:r>
              <a:rPr lang="en-US" dirty="0"/>
              <a:t> de la bodega </a:t>
            </a:r>
            <a:r>
              <a:rPr lang="en-US" dirty="0" err="1"/>
              <a:t>ingresen</a:t>
            </a:r>
            <a:r>
              <a:rPr lang="en-US" dirty="0"/>
              <a:t> y </a:t>
            </a:r>
            <a:r>
              <a:rPr lang="en-US" dirty="0" err="1"/>
              <a:t>además</a:t>
            </a:r>
            <a:r>
              <a:rPr lang="en-US" dirty="0"/>
              <a:t> </a:t>
            </a:r>
            <a:r>
              <a:rPr lang="en-US" dirty="0" err="1"/>
              <a:t>redireccionara</a:t>
            </a:r>
            <a:r>
              <a:rPr lang="en-US" dirty="0"/>
              <a:t> a </a:t>
            </a:r>
            <a:r>
              <a:rPr lang="en-US" dirty="0" err="1"/>
              <a:t>los</a:t>
            </a:r>
            <a:r>
              <a:rPr lang="en-US" dirty="0"/>
              <a:t> </a:t>
            </a:r>
            <a:r>
              <a:rPr lang="en-US" dirty="0" err="1"/>
              <a:t>usuarios</a:t>
            </a:r>
            <a:r>
              <a:rPr lang="en-US" dirty="0"/>
              <a:t> </a:t>
            </a:r>
            <a:r>
              <a:rPr lang="en-US" dirty="0" err="1"/>
              <a:t>dentro</a:t>
            </a:r>
            <a:r>
              <a:rPr lang="en-US" dirty="0"/>
              <a:t> de la </a:t>
            </a:r>
            <a:r>
              <a:rPr lang="en-US" dirty="0" err="1"/>
              <a:t>planilla</a:t>
            </a:r>
            <a:r>
              <a:rPr lang="en-US" dirty="0"/>
              <a:t> a sus </a:t>
            </a:r>
            <a:r>
              <a:rPr lang="en-US" dirty="0" err="1"/>
              <a:t>respectivas</a:t>
            </a:r>
            <a:r>
              <a:rPr lang="en-US" dirty="0"/>
              <a:t> </a:t>
            </a:r>
            <a:r>
              <a:rPr lang="en-US" dirty="0" err="1"/>
              <a:t>funciones</a:t>
            </a:r>
            <a:endParaRPr lang="en-US" dirty="0"/>
          </a:p>
        </p:txBody>
      </p:sp>
    </p:spTree>
    <p:extLst>
      <p:ext uri="{BB962C8B-B14F-4D97-AF65-F5344CB8AC3E}">
        <p14:creationId xmlns:p14="http://schemas.microsoft.com/office/powerpoint/2010/main" val="1045435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A2BCB2-9201-FE78-B551-93E2A4B582B4}"/>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832566-2673-367B-2F39-D8685B1E309F}"/>
              </a:ext>
            </a:extLst>
          </p:cNvPr>
          <p:cNvSpPr>
            <a:spLocks noGrp="1"/>
          </p:cNvSpPr>
          <p:nvPr>
            <p:ph type="title"/>
          </p:nvPr>
        </p:nvSpPr>
        <p:spPr>
          <a:xfrm>
            <a:off x="1057025" y="922644"/>
            <a:ext cx="5040285" cy="1169585"/>
          </a:xfrm>
        </p:spPr>
        <p:txBody>
          <a:bodyPr vert="horz" lIns="91440" tIns="45720" rIns="91440" bIns="45720" rtlCol="0" anchor="b">
            <a:normAutofit/>
          </a:bodyPr>
          <a:lstStyle/>
          <a:p>
            <a:r>
              <a:rPr lang="en-US" sz="4000"/>
              <a:t>Aplicación del código</a:t>
            </a:r>
          </a:p>
        </p:txBody>
      </p:sp>
      <p:sp>
        <p:nvSpPr>
          <p:cNvPr id="21" name="Rectangle 2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2FCBB3-08BF-79F2-A3DA-2C3D91F547D1}"/>
              </a:ext>
            </a:extLst>
          </p:cNvPr>
          <p:cNvSpPr txBox="1"/>
          <p:nvPr/>
        </p:nvSpPr>
        <p:spPr>
          <a:xfrm>
            <a:off x="1055715" y="2508105"/>
            <a:ext cx="5040285" cy="363249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Para empezar veremos una de las partes mas importantes del código y es la estructura de métodos y sus respectivas funciones, tales como el case 1 perteneciente a las funciones de vendedores la cual nos permite almacenar las ventas a lo largo de los doce meses, ventas almacenadas en un documento aparte, cosa lo cual nos ayudara a calcular ganancias mas adelante</a:t>
            </a:r>
          </a:p>
        </p:txBody>
      </p:sp>
      <p:pic>
        <p:nvPicPr>
          <p:cNvPr id="8" name="Content Placeholder 7">
            <a:extLst>
              <a:ext uri="{FF2B5EF4-FFF2-40B4-BE49-F238E27FC236}">
                <a16:creationId xmlns:a16="http://schemas.microsoft.com/office/drawing/2014/main" id="{7888F99B-B3B7-2A4B-968B-C64EBEC56E28}"/>
              </a:ext>
            </a:extLst>
          </p:cNvPr>
          <p:cNvPicPr>
            <a:picLocks noGrp="1" noChangeAspect="1"/>
          </p:cNvPicPr>
          <p:nvPr>
            <p:ph sz="half" idx="2"/>
          </p:nvPr>
        </p:nvPicPr>
        <p:blipFill>
          <a:blip r:embed="rId2"/>
          <a:stretch>
            <a:fillRect/>
          </a:stretch>
        </p:blipFill>
        <p:spPr>
          <a:xfrm>
            <a:off x="6946667" y="1016969"/>
            <a:ext cx="4389120" cy="2095804"/>
          </a:xfrm>
          <a:prstGeom prst="rect">
            <a:avLst/>
          </a:prstGeom>
        </p:spPr>
      </p:pic>
      <p:pic>
        <p:nvPicPr>
          <p:cNvPr id="6" name="Content Placeholder 5">
            <a:extLst>
              <a:ext uri="{FF2B5EF4-FFF2-40B4-BE49-F238E27FC236}">
                <a16:creationId xmlns:a16="http://schemas.microsoft.com/office/drawing/2014/main" id="{6863A5B6-8374-50E8-A561-E21A071ACED9}"/>
              </a:ext>
            </a:extLst>
          </p:cNvPr>
          <p:cNvPicPr>
            <a:picLocks noGrp="1" noChangeAspect="1"/>
          </p:cNvPicPr>
          <p:nvPr>
            <p:ph sz="half" idx="1"/>
          </p:nvPr>
        </p:nvPicPr>
        <p:blipFill>
          <a:blip r:embed="rId3"/>
          <a:stretch>
            <a:fillRect/>
          </a:stretch>
        </p:blipFill>
        <p:spPr>
          <a:xfrm>
            <a:off x="6946667" y="4212779"/>
            <a:ext cx="4389120" cy="1305762"/>
          </a:xfrm>
          <a:prstGeom prst="rect">
            <a:avLst/>
          </a:prstGeom>
        </p:spPr>
      </p:pic>
    </p:spTree>
    <p:extLst>
      <p:ext uri="{BB962C8B-B14F-4D97-AF65-F5344CB8AC3E}">
        <p14:creationId xmlns:p14="http://schemas.microsoft.com/office/powerpoint/2010/main" val="1024273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5D813D1-BA6B-40B4-A101-04BB89445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9" name="Rectangle 18">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AEA3DFA5-2D7B-4989-8ED7-8321EC114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678" y="0"/>
            <a:ext cx="11145980"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TextBox 2">
            <a:extLst>
              <a:ext uri="{FF2B5EF4-FFF2-40B4-BE49-F238E27FC236}">
                <a16:creationId xmlns:a16="http://schemas.microsoft.com/office/drawing/2014/main" id="{E7448D63-01AD-029B-8953-68275564C5B6}"/>
              </a:ext>
            </a:extLst>
          </p:cNvPr>
          <p:cNvSpPr txBox="1"/>
          <p:nvPr/>
        </p:nvSpPr>
        <p:spPr>
          <a:xfrm>
            <a:off x="1191966" y="2965593"/>
            <a:ext cx="3629555" cy="2941544"/>
          </a:xfrm>
          <a:prstGeom prst="rect">
            <a:avLst/>
          </a:prstGeom>
        </p:spPr>
        <p:txBody>
          <a:bodyPr vert="horz" lIns="91440" tIns="45720" rIns="91440" bIns="45720" rtlCol="0">
            <a:normAutofit/>
          </a:bodyPr>
          <a:lstStyle/>
          <a:p>
            <a:pPr>
              <a:lnSpc>
                <a:spcPct val="90000"/>
              </a:lnSpc>
              <a:spcAft>
                <a:spcPts val="600"/>
              </a:spcAft>
            </a:pPr>
            <a:r>
              <a:rPr lang="en-US" sz="1700" dirty="0"/>
              <a:t>Lo </a:t>
            </a:r>
            <a:r>
              <a:rPr lang="en-US" sz="1700" dirty="0" err="1"/>
              <a:t>que</a:t>
            </a:r>
            <a:r>
              <a:rPr lang="en-US" sz="1700" dirty="0"/>
              <a:t> </a:t>
            </a:r>
            <a:r>
              <a:rPr lang="en-US" sz="1700" dirty="0" err="1"/>
              <a:t>tenemos</a:t>
            </a:r>
            <a:r>
              <a:rPr lang="en-US" sz="1700" dirty="0"/>
              <a:t> a </a:t>
            </a:r>
            <a:r>
              <a:rPr lang="en-US" sz="1700" dirty="0" err="1"/>
              <a:t>continuación</a:t>
            </a:r>
            <a:r>
              <a:rPr lang="en-US" sz="1700" dirty="0"/>
              <a:t> son las </a:t>
            </a:r>
            <a:r>
              <a:rPr lang="en-US" sz="1700" dirty="0" err="1"/>
              <a:t>ultimas</a:t>
            </a:r>
            <a:r>
              <a:rPr lang="en-US" sz="1700" dirty="0"/>
              <a:t> </a:t>
            </a:r>
            <a:r>
              <a:rPr lang="en-US" sz="1700" dirty="0" err="1"/>
              <a:t>funciones</a:t>
            </a:r>
            <a:r>
              <a:rPr lang="en-US" sz="1700" dirty="0"/>
              <a:t> con las </a:t>
            </a:r>
            <a:r>
              <a:rPr lang="en-US" sz="1700" dirty="0" err="1"/>
              <a:t>cuales</a:t>
            </a:r>
            <a:r>
              <a:rPr lang="en-US" sz="1700" dirty="0"/>
              <a:t> </a:t>
            </a:r>
            <a:r>
              <a:rPr lang="en-US" sz="1700" dirty="0" err="1"/>
              <a:t>cuenta</a:t>
            </a:r>
            <a:r>
              <a:rPr lang="en-US" sz="1700" dirty="0"/>
              <a:t> el </a:t>
            </a:r>
            <a:r>
              <a:rPr lang="en-US" sz="1700" dirty="0" err="1"/>
              <a:t>usuario</a:t>
            </a:r>
            <a:r>
              <a:rPr lang="en-US" sz="1700" dirty="0"/>
              <a:t> de </a:t>
            </a:r>
            <a:r>
              <a:rPr lang="en-US" sz="1700" dirty="0" err="1"/>
              <a:t>rol</a:t>
            </a:r>
            <a:r>
              <a:rPr lang="en-US" sz="1700" dirty="0"/>
              <a:t> de </a:t>
            </a:r>
            <a:r>
              <a:rPr lang="en-US" sz="1700" dirty="0" err="1"/>
              <a:t>vendedor</a:t>
            </a:r>
            <a:r>
              <a:rPr lang="en-US" sz="1700" dirty="0"/>
              <a:t>, </a:t>
            </a:r>
            <a:r>
              <a:rPr lang="en-US" sz="1700" dirty="0" err="1"/>
              <a:t>estas</a:t>
            </a:r>
            <a:r>
              <a:rPr lang="en-US" sz="1700" dirty="0"/>
              <a:t> </a:t>
            </a:r>
            <a:r>
              <a:rPr lang="en-US" sz="1700" dirty="0" err="1"/>
              <a:t>funciones</a:t>
            </a:r>
            <a:r>
              <a:rPr lang="en-US" sz="1700" dirty="0"/>
              <a:t> </a:t>
            </a:r>
            <a:r>
              <a:rPr lang="en-US" sz="1700" dirty="0" err="1"/>
              <a:t>evalúan</a:t>
            </a:r>
            <a:r>
              <a:rPr lang="en-US" sz="1700" dirty="0"/>
              <a:t> tanto el </a:t>
            </a:r>
            <a:r>
              <a:rPr lang="en-US" sz="1700" dirty="0" err="1"/>
              <a:t>rendimiento</a:t>
            </a:r>
            <a:r>
              <a:rPr lang="en-US" sz="1700" dirty="0"/>
              <a:t> </a:t>
            </a:r>
            <a:r>
              <a:rPr lang="en-US" sz="1700" dirty="0" err="1"/>
              <a:t>como</a:t>
            </a:r>
            <a:r>
              <a:rPr lang="en-US" sz="1700" dirty="0"/>
              <a:t> el stock restante del </a:t>
            </a:r>
            <a:r>
              <a:rPr lang="en-US" sz="1700" dirty="0" err="1"/>
              <a:t>almacen</a:t>
            </a:r>
            <a:r>
              <a:rPr lang="en-US" sz="1700" dirty="0"/>
              <a:t>, lo </a:t>
            </a:r>
            <a:r>
              <a:rPr lang="en-US" sz="1700" dirty="0" err="1"/>
              <a:t>cual</a:t>
            </a:r>
            <a:r>
              <a:rPr lang="en-US" sz="1700" dirty="0"/>
              <a:t> </a:t>
            </a:r>
            <a:r>
              <a:rPr lang="en-US" sz="1700" dirty="0" err="1"/>
              <a:t>calculará</a:t>
            </a:r>
            <a:r>
              <a:rPr lang="en-US" sz="1700" dirty="0"/>
              <a:t> las </a:t>
            </a:r>
            <a:r>
              <a:rPr lang="en-US" sz="1700" dirty="0" err="1"/>
              <a:t>ventas</a:t>
            </a:r>
            <a:r>
              <a:rPr lang="en-US" sz="1700" dirty="0"/>
              <a:t> </a:t>
            </a:r>
            <a:r>
              <a:rPr lang="en-US" sz="1700" dirty="0" err="1"/>
              <a:t>que</a:t>
            </a:r>
            <a:r>
              <a:rPr lang="en-US" sz="1700" dirty="0"/>
              <a:t> </a:t>
            </a:r>
            <a:r>
              <a:rPr lang="en-US" sz="1700" dirty="0" err="1"/>
              <a:t>tendrían</a:t>
            </a:r>
            <a:r>
              <a:rPr lang="en-US" sz="1700" dirty="0"/>
              <a:t> </a:t>
            </a:r>
            <a:r>
              <a:rPr lang="en-US" sz="1700" dirty="0" err="1"/>
              <a:t>que</a:t>
            </a:r>
            <a:r>
              <a:rPr lang="en-US" sz="1700" dirty="0"/>
              <a:t> </a:t>
            </a:r>
            <a:r>
              <a:rPr lang="en-US" sz="1700" dirty="0" err="1"/>
              <a:t>haber</a:t>
            </a:r>
            <a:r>
              <a:rPr lang="en-US" sz="1700" dirty="0"/>
              <a:t> </a:t>
            </a:r>
            <a:r>
              <a:rPr lang="en-US" sz="1700" dirty="0" err="1"/>
              <a:t>realizado</a:t>
            </a:r>
            <a:r>
              <a:rPr lang="en-US" sz="1700" dirty="0"/>
              <a:t> </a:t>
            </a:r>
            <a:r>
              <a:rPr lang="en-US" sz="1700" dirty="0" err="1"/>
              <a:t>los</a:t>
            </a:r>
            <a:r>
              <a:rPr lang="en-US" sz="1700" dirty="0"/>
              <a:t> </a:t>
            </a:r>
            <a:r>
              <a:rPr lang="en-US" sz="1700" dirty="0" err="1"/>
              <a:t>vendedores</a:t>
            </a:r>
            <a:r>
              <a:rPr lang="en-US" sz="1700" dirty="0"/>
              <a:t> </a:t>
            </a:r>
            <a:r>
              <a:rPr lang="en-US" sz="1700" dirty="0" err="1"/>
              <a:t>en</a:t>
            </a:r>
            <a:r>
              <a:rPr lang="en-US" sz="1700" dirty="0"/>
              <a:t> total, con lo </a:t>
            </a:r>
            <a:r>
              <a:rPr lang="en-US" sz="1700" dirty="0" err="1"/>
              <a:t>cual</a:t>
            </a:r>
            <a:r>
              <a:rPr lang="en-US" sz="1700" dirty="0"/>
              <a:t>, el </a:t>
            </a:r>
            <a:r>
              <a:rPr lang="en-US" sz="1700" dirty="0" err="1"/>
              <a:t>administrador</a:t>
            </a:r>
            <a:r>
              <a:rPr lang="en-US" sz="1700" dirty="0"/>
              <a:t> </a:t>
            </a:r>
            <a:r>
              <a:rPr lang="en-US" sz="1700" dirty="0" err="1"/>
              <a:t>podrá</a:t>
            </a:r>
            <a:r>
              <a:rPr lang="en-US" sz="1700" dirty="0"/>
              <a:t> </a:t>
            </a:r>
            <a:r>
              <a:rPr lang="en-US" sz="1700" dirty="0" err="1"/>
              <a:t>hacer</a:t>
            </a:r>
            <a:r>
              <a:rPr lang="en-US" sz="1700" dirty="0"/>
              <a:t> un </a:t>
            </a:r>
            <a:r>
              <a:rPr lang="en-US" sz="1700" dirty="0" err="1"/>
              <a:t>mejor</a:t>
            </a:r>
            <a:r>
              <a:rPr lang="en-US" sz="1700" dirty="0"/>
              <a:t> </a:t>
            </a:r>
            <a:r>
              <a:rPr lang="en-US" sz="1700" dirty="0" err="1"/>
              <a:t>calculo</a:t>
            </a:r>
            <a:r>
              <a:rPr lang="en-US" sz="1700" dirty="0"/>
              <a:t> de las </a:t>
            </a:r>
            <a:r>
              <a:rPr lang="en-US" sz="1700" dirty="0" err="1"/>
              <a:t>ganancias</a:t>
            </a:r>
            <a:r>
              <a:rPr lang="en-US" sz="1700" dirty="0"/>
              <a:t> y </a:t>
            </a:r>
            <a:r>
              <a:rPr lang="en-US" sz="1700" dirty="0" err="1"/>
              <a:t>repartir</a:t>
            </a:r>
            <a:r>
              <a:rPr lang="en-US" sz="1700" dirty="0"/>
              <a:t> </a:t>
            </a:r>
            <a:r>
              <a:rPr lang="en-US" sz="1700" dirty="0" err="1"/>
              <a:t>dichas</a:t>
            </a:r>
            <a:r>
              <a:rPr lang="en-US" sz="1700" dirty="0"/>
              <a:t> </a:t>
            </a:r>
            <a:r>
              <a:rPr lang="en-US" sz="1700" dirty="0" err="1"/>
              <a:t>ganancias</a:t>
            </a:r>
            <a:r>
              <a:rPr lang="en-US" sz="1700" dirty="0"/>
              <a:t> entre </a:t>
            </a:r>
            <a:r>
              <a:rPr lang="en-US" sz="1700" dirty="0" err="1"/>
              <a:t>salarios</a:t>
            </a:r>
            <a:r>
              <a:rPr lang="en-US" sz="1700" dirty="0"/>
              <a:t>.</a:t>
            </a:r>
          </a:p>
        </p:txBody>
      </p:sp>
      <p:pic>
        <p:nvPicPr>
          <p:cNvPr id="6" name="Content Placeholder 5">
            <a:extLst>
              <a:ext uri="{FF2B5EF4-FFF2-40B4-BE49-F238E27FC236}">
                <a16:creationId xmlns:a16="http://schemas.microsoft.com/office/drawing/2014/main" id="{D1F33235-654D-695D-6C23-D56C2C425159}"/>
              </a:ext>
            </a:extLst>
          </p:cNvPr>
          <p:cNvPicPr>
            <a:picLocks noGrp="1" noChangeAspect="1"/>
          </p:cNvPicPr>
          <p:nvPr>
            <p:ph sz="half" idx="1"/>
          </p:nvPr>
        </p:nvPicPr>
        <p:blipFill>
          <a:blip r:embed="rId3"/>
          <a:stretch>
            <a:fillRect/>
          </a:stretch>
        </p:blipFill>
        <p:spPr>
          <a:xfrm>
            <a:off x="5803072" y="171716"/>
            <a:ext cx="5087393" cy="3179620"/>
          </a:xfrm>
          <a:prstGeom prst="rect">
            <a:avLst/>
          </a:prstGeom>
        </p:spPr>
      </p:pic>
      <p:pic>
        <p:nvPicPr>
          <p:cNvPr id="8" name="Content Placeholder 7">
            <a:extLst>
              <a:ext uri="{FF2B5EF4-FFF2-40B4-BE49-F238E27FC236}">
                <a16:creationId xmlns:a16="http://schemas.microsoft.com/office/drawing/2014/main" id="{91A5C107-E17E-082A-7586-34D709115366}"/>
              </a:ext>
            </a:extLst>
          </p:cNvPr>
          <p:cNvPicPr>
            <a:picLocks noGrp="1" noChangeAspect="1"/>
          </p:cNvPicPr>
          <p:nvPr>
            <p:ph sz="half" idx="2"/>
          </p:nvPr>
        </p:nvPicPr>
        <p:blipFill>
          <a:blip r:embed="rId4"/>
          <a:stretch>
            <a:fillRect/>
          </a:stretch>
        </p:blipFill>
        <p:spPr>
          <a:xfrm>
            <a:off x="5754330" y="3498320"/>
            <a:ext cx="5191215" cy="3179620"/>
          </a:xfrm>
          <a:prstGeom prst="rect">
            <a:avLst/>
          </a:prstGeom>
        </p:spPr>
      </p:pic>
    </p:spTree>
    <p:extLst>
      <p:ext uri="{BB962C8B-B14F-4D97-AF65-F5344CB8AC3E}">
        <p14:creationId xmlns:p14="http://schemas.microsoft.com/office/powerpoint/2010/main" val="411844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1AEB669-B7D1-BA19-0928-885CFE151C81}"/>
              </a:ext>
            </a:extLst>
          </p:cNvPr>
          <p:cNvPicPr>
            <a:picLocks noGrp="1" noChangeAspect="1"/>
          </p:cNvPicPr>
          <p:nvPr>
            <p:ph sz="half" idx="1"/>
          </p:nvPr>
        </p:nvPicPr>
        <p:blipFill>
          <a:blip r:embed="rId2"/>
          <a:stretch>
            <a:fillRect/>
          </a:stretch>
        </p:blipFill>
        <p:spPr>
          <a:xfrm>
            <a:off x="1431691" y="364143"/>
            <a:ext cx="3949812" cy="3426462"/>
          </a:xfrm>
          <a:prstGeom prst="rect">
            <a:avLst/>
          </a:prstGeom>
        </p:spPr>
      </p:pic>
      <p:pic>
        <p:nvPicPr>
          <p:cNvPr id="8" name="Content Placeholder 7">
            <a:extLst>
              <a:ext uri="{FF2B5EF4-FFF2-40B4-BE49-F238E27FC236}">
                <a16:creationId xmlns:a16="http://schemas.microsoft.com/office/drawing/2014/main" id="{0ECCD281-5773-5FA0-0AB8-66BDD6BC3F45}"/>
              </a:ext>
            </a:extLst>
          </p:cNvPr>
          <p:cNvPicPr>
            <a:picLocks noGrp="1" noChangeAspect="1"/>
          </p:cNvPicPr>
          <p:nvPr>
            <p:ph sz="half" idx="2"/>
          </p:nvPr>
        </p:nvPicPr>
        <p:blipFill>
          <a:blip r:embed="rId3"/>
          <a:stretch>
            <a:fillRect/>
          </a:stretch>
        </p:blipFill>
        <p:spPr>
          <a:xfrm>
            <a:off x="6297264" y="1351801"/>
            <a:ext cx="5136795" cy="1451144"/>
          </a:xfrm>
          <a:prstGeom prst="rect">
            <a:avLst/>
          </a:prstGeom>
        </p:spPr>
      </p:pic>
      <p:sp>
        <p:nvSpPr>
          <p:cNvPr id="40" name="Rectangle 3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85CB271-E9B8-5834-7A88-350D00103DDB}"/>
              </a:ext>
            </a:extLst>
          </p:cNvPr>
          <p:cNvSpPr txBox="1"/>
          <p:nvPr/>
        </p:nvSpPr>
        <p:spPr>
          <a:xfrm>
            <a:off x="5162719" y="4495568"/>
            <a:ext cx="6586915" cy="190523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500"/>
              <a:t>En este caso, tenemos dos de las funciones del rol de administrador, en el caso de la dos, esta se encargara de evaluar la ganancia neto con la cual cuenta el administrador, esto descontando cosas como el coste del inventario, el igv, e incluso el pago de alquiler en caso de que sus ganancias anuales sean mayores a la medida de la UIT, este es en el caso de la segunda función, mientras que la tercera función reparte estas ganancias en salarios equitativos.</a:t>
            </a:r>
          </a:p>
        </p:txBody>
      </p:sp>
    </p:spTree>
    <p:extLst>
      <p:ext uri="{BB962C8B-B14F-4D97-AF65-F5344CB8AC3E}">
        <p14:creationId xmlns:p14="http://schemas.microsoft.com/office/powerpoint/2010/main" val="183634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8BC803E-13F3-4DAB-B17C-BEB007616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9D85F1B-3302-4DB9-81B1-038ADCE4D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1999"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10">
            <a:extLst>
              <a:ext uri="{FF2B5EF4-FFF2-40B4-BE49-F238E27FC236}">
                <a16:creationId xmlns:a16="http://schemas.microsoft.com/office/drawing/2014/main" id="{50EEAD3E-14FB-3749-A6AF-1D4486D9206B}"/>
              </a:ext>
            </a:extLst>
          </p:cNvPr>
          <p:cNvPicPr>
            <a:picLocks noGrp="1" noChangeAspect="1"/>
          </p:cNvPicPr>
          <p:nvPr>
            <p:ph sz="half" idx="2"/>
          </p:nvPr>
        </p:nvPicPr>
        <p:blipFill>
          <a:blip r:embed="rId2"/>
          <a:srcRect t="9539" b="12411"/>
          <a:stretch>
            <a:fillRect/>
          </a:stretch>
        </p:blipFill>
        <p:spPr>
          <a:xfrm>
            <a:off x="20" y="10"/>
            <a:ext cx="6095980" cy="3175906"/>
          </a:xfrm>
          <a:custGeom>
            <a:avLst/>
            <a:gdLst/>
            <a:ahLst/>
            <a:cxnLst/>
            <a:rect l="l" t="t" r="r" b="b"/>
            <a:pathLst>
              <a:path w="6096000" h="3175916">
                <a:moveTo>
                  <a:pt x="0" y="0"/>
                </a:moveTo>
                <a:lnTo>
                  <a:pt x="6096000" y="0"/>
                </a:lnTo>
                <a:lnTo>
                  <a:pt x="6096000" y="3175916"/>
                </a:lnTo>
                <a:lnTo>
                  <a:pt x="6074953" y="3168556"/>
                </a:lnTo>
                <a:cubicBezTo>
                  <a:pt x="6065180" y="3165138"/>
                  <a:pt x="6054705" y="3162334"/>
                  <a:pt x="6041425" y="3161984"/>
                </a:cubicBezTo>
                <a:lnTo>
                  <a:pt x="5978335" y="3173176"/>
                </a:lnTo>
                <a:cubicBezTo>
                  <a:pt x="5953369" y="3176890"/>
                  <a:pt x="5845857" y="3169112"/>
                  <a:pt x="5827638" y="3169738"/>
                </a:cubicBezTo>
                <a:cubicBezTo>
                  <a:pt x="5821882" y="3178743"/>
                  <a:pt x="5799256" y="3174685"/>
                  <a:pt x="5761310" y="3170760"/>
                </a:cubicBezTo>
                <a:cubicBezTo>
                  <a:pt x="5731057" y="3170684"/>
                  <a:pt x="5713719" y="3171961"/>
                  <a:pt x="5696588" y="3173023"/>
                </a:cubicBezTo>
                <a:lnTo>
                  <a:pt x="5682596" y="3173661"/>
                </a:lnTo>
                <a:lnTo>
                  <a:pt x="5575844" y="3148218"/>
                </a:lnTo>
                <a:cubicBezTo>
                  <a:pt x="5455823" y="3136706"/>
                  <a:pt x="5377668" y="3144388"/>
                  <a:pt x="5287401" y="3135195"/>
                </a:cubicBezTo>
                <a:cubicBezTo>
                  <a:pt x="5197135" y="3126002"/>
                  <a:pt x="5202548" y="3115782"/>
                  <a:pt x="5034243" y="3093057"/>
                </a:cubicBezTo>
                <a:cubicBezTo>
                  <a:pt x="4879585" y="3031690"/>
                  <a:pt x="4724928" y="3048859"/>
                  <a:pt x="4570270" y="3026761"/>
                </a:cubicBezTo>
                <a:cubicBezTo>
                  <a:pt x="4488718" y="3050631"/>
                  <a:pt x="4344263" y="2990436"/>
                  <a:pt x="4232462" y="2981221"/>
                </a:cubicBezTo>
                <a:cubicBezTo>
                  <a:pt x="4120662" y="2972005"/>
                  <a:pt x="3986179" y="2970108"/>
                  <a:pt x="3899469" y="2971466"/>
                </a:cubicBezTo>
                <a:cubicBezTo>
                  <a:pt x="3892272" y="2982518"/>
                  <a:pt x="3768985" y="2995342"/>
                  <a:pt x="3710933" y="2958642"/>
                </a:cubicBezTo>
                <a:cubicBezTo>
                  <a:pt x="3583105" y="2956402"/>
                  <a:pt x="3623640" y="2964712"/>
                  <a:pt x="3495164" y="2941478"/>
                </a:cubicBezTo>
                <a:cubicBezTo>
                  <a:pt x="3419432" y="2942273"/>
                  <a:pt x="3339383" y="2952386"/>
                  <a:pt x="3282944" y="2951628"/>
                </a:cubicBezTo>
                <a:cubicBezTo>
                  <a:pt x="3281769" y="2953455"/>
                  <a:pt x="3129759" y="2929645"/>
                  <a:pt x="3085959" y="2922940"/>
                </a:cubicBezTo>
                <a:cubicBezTo>
                  <a:pt x="3042159" y="2916235"/>
                  <a:pt x="3054740" y="2920103"/>
                  <a:pt x="3020146" y="2911397"/>
                </a:cubicBezTo>
                <a:cubicBezTo>
                  <a:pt x="2871334" y="2883584"/>
                  <a:pt x="2762563" y="2883465"/>
                  <a:pt x="2653542" y="2876899"/>
                </a:cubicBezTo>
                <a:cubicBezTo>
                  <a:pt x="2533423" y="2872448"/>
                  <a:pt x="2683271" y="2915174"/>
                  <a:pt x="2510424" y="2888407"/>
                </a:cubicBezTo>
                <a:cubicBezTo>
                  <a:pt x="2506340" y="2898923"/>
                  <a:pt x="2449170" y="2888049"/>
                  <a:pt x="2412523" y="2882673"/>
                </a:cubicBezTo>
                <a:cubicBezTo>
                  <a:pt x="2355021" y="2881306"/>
                  <a:pt x="2382991" y="2891314"/>
                  <a:pt x="2308292" y="2874695"/>
                </a:cubicBezTo>
                <a:lnTo>
                  <a:pt x="2233764" y="2908195"/>
                </a:lnTo>
                <a:cubicBezTo>
                  <a:pt x="2234416" y="2903929"/>
                  <a:pt x="2112578" y="2949704"/>
                  <a:pt x="2089169" y="2948983"/>
                </a:cubicBezTo>
                <a:lnTo>
                  <a:pt x="1901626" y="2945454"/>
                </a:lnTo>
                <a:cubicBezTo>
                  <a:pt x="1851336" y="2959106"/>
                  <a:pt x="1870664" y="2971169"/>
                  <a:pt x="1825089" y="2978820"/>
                </a:cubicBezTo>
                <a:cubicBezTo>
                  <a:pt x="1779514" y="2986471"/>
                  <a:pt x="1746268" y="2976574"/>
                  <a:pt x="1628175" y="2991359"/>
                </a:cubicBezTo>
                <a:cubicBezTo>
                  <a:pt x="1580792" y="3002760"/>
                  <a:pt x="1459893" y="2977867"/>
                  <a:pt x="1367439" y="2991184"/>
                </a:cubicBezTo>
                <a:cubicBezTo>
                  <a:pt x="1369407" y="3003218"/>
                  <a:pt x="1303810" y="3002393"/>
                  <a:pt x="1260431" y="2993313"/>
                </a:cubicBezTo>
                <a:lnTo>
                  <a:pt x="1131986" y="3017812"/>
                </a:lnTo>
                <a:cubicBezTo>
                  <a:pt x="1134074" y="3034431"/>
                  <a:pt x="1115111" y="3023292"/>
                  <a:pt x="1062297" y="3034267"/>
                </a:cubicBezTo>
                <a:cubicBezTo>
                  <a:pt x="1046148" y="3044857"/>
                  <a:pt x="1019464" y="3043729"/>
                  <a:pt x="979009" y="3052795"/>
                </a:cubicBezTo>
                <a:cubicBezTo>
                  <a:pt x="963885" y="3062784"/>
                  <a:pt x="844270" y="3032960"/>
                  <a:pt x="809514" y="3039765"/>
                </a:cubicBezTo>
                <a:cubicBezTo>
                  <a:pt x="773761" y="3042869"/>
                  <a:pt x="775984" y="3025792"/>
                  <a:pt x="686053" y="3027101"/>
                </a:cubicBezTo>
                <a:cubicBezTo>
                  <a:pt x="600190" y="3024844"/>
                  <a:pt x="595882" y="3019147"/>
                  <a:pt x="504370" y="3015625"/>
                </a:cubicBezTo>
                <a:cubicBezTo>
                  <a:pt x="442615" y="3013617"/>
                  <a:pt x="455531" y="3005845"/>
                  <a:pt x="421644" y="3004997"/>
                </a:cubicBezTo>
                <a:cubicBezTo>
                  <a:pt x="377193" y="3017912"/>
                  <a:pt x="307611" y="2981496"/>
                  <a:pt x="274973" y="2996304"/>
                </a:cubicBezTo>
                <a:lnTo>
                  <a:pt x="116340" y="2982098"/>
                </a:lnTo>
                <a:lnTo>
                  <a:pt x="35300" y="2993836"/>
                </a:lnTo>
                <a:cubicBezTo>
                  <a:pt x="29001" y="2994370"/>
                  <a:pt x="18688" y="2993580"/>
                  <a:pt x="6479" y="2992085"/>
                </a:cubicBezTo>
                <a:lnTo>
                  <a:pt x="0" y="2991123"/>
                </a:lnTo>
                <a:close/>
              </a:path>
            </a:pathLst>
          </a:custGeom>
        </p:spPr>
      </p:pic>
      <p:pic>
        <p:nvPicPr>
          <p:cNvPr id="9" name="Content Placeholder 8">
            <a:extLst>
              <a:ext uri="{FF2B5EF4-FFF2-40B4-BE49-F238E27FC236}">
                <a16:creationId xmlns:a16="http://schemas.microsoft.com/office/drawing/2014/main" id="{680975FA-19CB-F6FD-7FDD-0F021539F583}"/>
              </a:ext>
            </a:extLst>
          </p:cNvPr>
          <p:cNvPicPr>
            <a:picLocks noGrp="1" noChangeAspect="1"/>
          </p:cNvPicPr>
          <p:nvPr>
            <p:ph sz="half" idx="1"/>
          </p:nvPr>
        </p:nvPicPr>
        <p:blipFill>
          <a:blip r:embed="rId3"/>
          <a:srcRect t="13656" b="14341"/>
          <a:stretch>
            <a:fillRect/>
          </a:stretch>
        </p:blipFill>
        <p:spPr>
          <a:xfrm>
            <a:off x="6096000" y="10"/>
            <a:ext cx="6096000" cy="3182262"/>
          </a:xfrm>
          <a:custGeom>
            <a:avLst/>
            <a:gdLst/>
            <a:ahLst/>
            <a:cxnLst/>
            <a:rect l="l" t="t" r="r" b="b"/>
            <a:pathLst>
              <a:path w="6096000" h="3182272">
                <a:moveTo>
                  <a:pt x="0" y="0"/>
                </a:moveTo>
                <a:lnTo>
                  <a:pt x="6096000" y="0"/>
                </a:lnTo>
                <a:lnTo>
                  <a:pt x="6096000" y="2977881"/>
                </a:lnTo>
                <a:lnTo>
                  <a:pt x="6089100" y="2979305"/>
                </a:lnTo>
                <a:cubicBezTo>
                  <a:pt x="6033641" y="2989882"/>
                  <a:pt x="5988719" y="2996128"/>
                  <a:pt x="5963104" y="2993636"/>
                </a:cubicBezTo>
                <a:cubicBezTo>
                  <a:pt x="5792949" y="3029182"/>
                  <a:pt x="5730547" y="3002240"/>
                  <a:pt x="5622676" y="2993454"/>
                </a:cubicBezTo>
                <a:cubicBezTo>
                  <a:pt x="5358705" y="2975083"/>
                  <a:pt x="5242862" y="2994654"/>
                  <a:pt x="5115732" y="2989671"/>
                </a:cubicBezTo>
                <a:cubicBezTo>
                  <a:pt x="4988602" y="2984687"/>
                  <a:pt x="5029567" y="2975639"/>
                  <a:pt x="4859897" y="2963549"/>
                </a:cubicBezTo>
                <a:lnTo>
                  <a:pt x="4391870" y="2926580"/>
                </a:lnTo>
                <a:cubicBezTo>
                  <a:pt x="4327296" y="2956949"/>
                  <a:pt x="4071930" y="2902434"/>
                  <a:pt x="4051327" y="2902384"/>
                </a:cubicBezTo>
                <a:cubicBezTo>
                  <a:pt x="3968352" y="2908170"/>
                  <a:pt x="3882315" y="2886803"/>
                  <a:pt x="3767876" y="2899218"/>
                </a:cubicBezTo>
                <a:cubicBezTo>
                  <a:pt x="3761563" y="2910695"/>
                  <a:pt x="3759706" y="2886579"/>
                  <a:pt x="3607318" y="2887826"/>
                </a:cubicBezTo>
                <a:cubicBezTo>
                  <a:pt x="3517854" y="2911862"/>
                  <a:pt x="3239059" y="2908898"/>
                  <a:pt x="3200813" y="2916134"/>
                </a:cubicBezTo>
                <a:cubicBezTo>
                  <a:pt x="3125330" y="2921689"/>
                  <a:pt x="3104585" y="2900825"/>
                  <a:pt x="3048226" y="2903616"/>
                </a:cubicBezTo>
                <a:cubicBezTo>
                  <a:pt x="3047198" y="2905512"/>
                  <a:pt x="2972947" y="2922104"/>
                  <a:pt x="2930185" y="2925795"/>
                </a:cubicBezTo>
                <a:cubicBezTo>
                  <a:pt x="2887423" y="2929486"/>
                  <a:pt x="2826842" y="2932273"/>
                  <a:pt x="2791651" y="2925762"/>
                </a:cubicBezTo>
                <a:cubicBezTo>
                  <a:pt x="2641026" y="2907373"/>
                  <a:pt x="2577392" y="2897262"/>
                  <a:pt x="2468125" y="2897565"/>
                </a:cubicBezTo>
                <a:cubicBezTo>
                  <a:pt x="2347953" y="2900676"/>
                  <a:pt x="2483169" y="2941985"/>
                  <a:pt x="2308652" y="2926146"/>
                </a:cubicBezTo>
                <a:cubicBezTo>
                  <a:pt x="2305401" y="2936895"/>
                  <a:pt x="2265130" y="2921533"/>
                  <a:pt x="2228153" y="2918475"/>
                </a:cubicBezTo>
                <a:cubicBezTo>
                  <a:pt x="2170686" y="2920724"/>
                  <a:pt x="2206286" y="2945386"/>
                  <a:pt x="2130469" y="2933502"/>
                </a:cubicBezTo>
                <a:lnTo>
                  <a:pt x="2051835" y="2955169"/>
                </a:lnTo>
                <a:cubicBezTo>
                  <a:pt x="2052153" y="2950872"/>
                  <a:pt x="1934201" y="3004193"/>
                  <a:pt x="1910793" y="3004946"/>
                </a:cubicBezTo>
                <a:lnTo>
                  <a:pt x="1758332" y="3027886"/>
                </a:lnTo>
                <a:cubicBezTo>
                  <a:pt x="1709235" y="3044665"/>
                  <a:pt x="1700383" y="3043257"/>
                  <a:pt x="1649704" y="3051307"/>
                </a:cubicBezTo>
                <a:cubicBezTo>
                  <a:pt x="1599024" y="3059359"/>
                  <a:pt x="1520412" y="3098900"/>
                  <a:pt x="1454257" y="3076192"/>
                </a:cubicBezTo>
                <a:cubicBezTo>
                  <a:pt x="1407884" y="3090545"/>
                  <a:pt x="1414359" y="3062092"/>
                  <a:pt x="1323176" y="3081187"/>
                </a:cubicBezTo>
                <a:cubicBezTo>
                  <a:pt x="1269270" y="3084300"/>
                  <a:pt x="1246499" y="3082073"/>
                  <a:pt x="1231798" y="3083652"/>
                </a:cubicBezTo>
                <a:lnTo>
                  <a:pt x="1128386" y="3096270"/>
                </a:lnTo>
                <a:lnTo>
                  <a:pt x="1087572" y="3101257"/>
                </a:lnTo>
                <a:lnTo>
                  <a:pt x="1075937" y="3104255"/>
                </a:lnTo>
                <a:lnTo>
                  <a:pt x="992872" y="3105385"/>
                </a:lnTo>
                <a:cubicBezTo>
                  <a:pt x="955021" y="3105296"/>
                  <a:pt x="904630" y="3125038"/>
                  <a:pt x="891882" y="3122691"/>
                </a:cubicBezTo>
                <a:cubicBezTo>
                  <a:pt x="784087" y="3112356"/>
                  <a:pt x="829281" y="3133000"/>
                  <a:pt x="715888" y="3127380"/>
                </a:cubicBezTo>
                <a:cubicBezTo>
                  <a:pt x="637116" y="3116268"/>
                  <a:pt x="537472" y="3131012"/>
                  <a:pt x="399964" y="3152096"/>
                </a:cubicBezTo>
                <a:lnTo>
                  <a:pt x="310170" y="3146040"/>
                </a:lnTo>
                <a:lnTo>
                  <a:pt x="251771" y="3165636"/>
                </a:lnTo>
                <a:cubicBezTo>
                  <a:pt x="208442" y="3181313"/>
                  <a:pt x="136178" y="3149360"/>
                  <a:pt x="104780" y="3166182"/>
                </a:cubicBezTo>
                <a:cubicBezTo>
                  <a:pt x="55782" y="3185117"/>
                  <a:pt x="29223" y="3184417"/>
                  <a:pt x="8274" y="3178809"/>
                </a:cubicBezTo>
                <a:lnTo>
                  <a:pt x="0" y="3175916"/>
                </a:lnTo>
                <a:close/>
              </a:path>
            </a:pathLst>
          </a:custGeom>
        </p:spPr>
      </p:pic>
      <p:sp>
        <p:nvSpPr>
          <p:cNvPr id="7" name="TextBox 6">
            <a:extLst>
              <a:ext uri="{FF2B5EF4-FFF2-40B4-BE49-F238E27FC236}">
                <a16:creationId xmlns:a16="http://schemas.microsoft.com/office/drawing/2014/main" id="{8C7A16AB-0352-FA2A-448A-242B1A1FD405}"/>
              </a:ext>
            </a:extLst>
          </p:cNvPr>
          <p:cNvSpPr txBox="1"/>
          <p:nvPr/>
        </p:nvSpPr>
        <p:spPr>
          <a:xfrm>
            <a:off x="5745707" y="3493827"/>
            <a:ext cx="5813948" cy="285616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solidFill>
                  <a:schemeClr val="tx1">
                    <a:lumMod val="85000"/>
                    <a:lumOff val="15000"/>
                  </a:schemeClr>
                </a:solidFill>
              </a:rPr>
              <a:t>Por ultimo veremos dos de las funciones mas destacables del rol de administrador, siendo la primera el manejo de almacén, de aquí vendrán los productos que el vendedor dará a los clientes con su respectivo precio, cantidad, entre otros, asimismo, tiene las funciones de agregar y eliminar productos de la lista de la bodega. La siguiente función es una mas evaluativa, la cual se encarga de organizar entre el mejor al peor trabajador, en base a esto, el sistema recomendara el despido o la promoción del empleado, o como tal, si este se mantendrá en la empresa.</a:t>
            </a:r>
          </a:p>
        </p:txBody>
      </p:sp>
    </p:spTree>
    <p:extLst>
      <p:ext uri="{BB962C8B-B14F-4D97-AF65-F5344CB8AC3E}">
        <p14:creationId xmlns:p14="http://schemas.microsoft.com/office/powerpoint/2010/main" val="4067249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E00609-B93B-6BCA-6707-51E7BEBB9AD4}"/>
              </a:ext>
            </a:extLst>
          </p:cNvPr>
          <p:cNvSpPr>
            <a:spLocks noGrp="1"/>
          </p:cNvSpPr>
          <p:nvPr>
            <p:ph type="title"/>
          </p:nvPr>
        </p:nvSpPr>
        <p:spPr>
          <a:xfrm>
            <a:off x="1156851" y="637762"/>
            <a:ext cx="9888496" cy="900131"/>
          </a:xfrm>
        </p:spPr>
        <p:txBody>
          <a:bodyPr anchor="t">
            <a:normAutofit/>
          </a:bodyPr>
          <a:lstStyle/>
          <a:p>
            <a:r>
              <a:rPr lang="es-MX" sz="4000">
                <a:solidFill>
                  <a:schemeClr val="bg1"/>
                </a:solidFill>
              </a:rPr>
              <a:t>Conclusión</a:t>
            </a:r>
            <a:endParaRPr lang="es-PE"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3A0E706-5527-3EA5-2578-3082480A5E78}"/>
              </a:ext>
            </a:extLst>
          </p:cNvPr>
          <p:cNvSpPr>
            <a:spLocks noGrp="1"/>
          </p:cNvSpPr>
          <p:nvPr>
            <p:ph idx="1"/>
          </p:nvPr>
        </p:nvSpPr>
        <p:spPr>
          <a:xfrm>
            <a:off x="1155548" y="2217343"/>
            <a:ext cx="9880893" cy="3959619"/>
          </a:xfrm>
        </p:spPr>
        <p:txBody>
          <a:bodyPr>
            <a:normAutofit/>
          </a:bodyPr>
          <a:lstStyle/>
          <a:p>
            <a:pPr marL="0" indent="0">
              <a:buNone/>
            </a:pPr>
            <a:r>
              <a:rPr lang="es-MX" sz="2400" dirty="0"/>
              <a:t>Llegados a este punto, hemos logrado ofrecer a la bodega “Doña Cintia” un producto con la seguridad suficiente para permitir el acceso únicamente de empleados, hemos brindado un programa capaz de almacenar datos mediante documentos </a:t>
            </a:r>
            <a:r>
              <a:rPr lang="es-MX" sz="2400" dirty="0" err="1"/>
              <a:t>txt</a:t>
            </a:r>
            <a:r>
              <a:rPr lang="es-MX" sz="2400" dirty="0"/>
              <a:t>, que además filtra funciones dependiendo de los roles del usuario que acceda al sistema, con esto, hemos resuelto los problemas de la tienda, hemos brindado una forma mas moderna de mantener almacenado sus datos, una forma la cual no corre bajo el riesgo de perder los datos por el paso del tiempo, y que se puede mantener estable bajo una baja o alta demanda de datos ingresados, presentando así, un programa apto para un escenario tal como el de una bodega como la de “Doña Cintia”</a:t>
            </a:r>
            <a:endParaRPr lang="es-PE" sz="2400" dirty="0"/>
          </a:p>
        </p:txBody>
      </p:sp>
    </p:spTree>
    <p:extLst>
      <p:ext uri="{BB962C8B-B14F-4D97-AF65-F5344CB8AC3E}">
        <p14:creationId xmlns:p14="http://schemas.microsoft.com/office/powerpoint/2010/main" val="1702657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283</TotalTime>
  <Words>1260</Words>
  <Application>Microsoft Office PowerPoint</Application>
  <PresentationFormat>Widescreen</PresentationFormat>
  <Paragraphs>46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Caso de la bodega “Doña Cintia”</vt:lpstr>
      <vt:lpstr>Problemática</vt:lpstr>
      <vt:lpstr>Análisis del problema</vt:lpstr>
      <vt:lpstr>Análisis del problema – Parte 2</vt:lpstr>
      <vt:lpstr>Tabla IPO</vt:lpstr>
      <vt:lpstr>Solución al problema</vt:lpstr>
      <vt:lpstr>Diseño de la solución:</vt:lpstr>
      <vt:lpstr>Diseño de la solución:</vt:lpstr>
      <vt:lpstr>PowerPoint Presentation</vt:lpstr>
      <vt:lpstr>Código en C#</vt:lpstr>
      <vt:lpstr>Aplicación del código</vt:lpstr>
      <vt:lpstr>Aplicación del código</vt:lpstr>
      <vt:lpstr>PowerPoint Presentation</vt:lpstr>
      <vt:lpstr>PowerPoint Presentation</vt:lpstr>
      <vt:lpstr>PowerPoint Presentation</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Renaud Cárdenas Muñoz</dc:creator>
  <cp:lastModifiedBy>Enzo Renaud Cárdenas Muñoz</cp:lastModifiedBy>
  <cp:revision>10</cp:revision>
  <dcterms:created xsi:type="dcterms:W3CDTF">2026-07-02T08:24:50Z</dcterms:created>
  <dcterms:modified xsi:type="dcterms:W3CDTF">2026-07-02T19:33:26Z</dcterms:modified>
</cp:coreProperties>
</file>